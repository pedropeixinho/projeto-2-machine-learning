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Anton" charset="1" panose="00000500000000000000"/>
      <p:regular r:id="rId39"/>
    </p:embeddedFont>
    <p:embeddedFont>
      <p:font typeface="Courier Prime" charset="1" panose="00000509000000000000"/>
      <p:regular r:id="rId40"/>
    </p:embeddedFont>
    <p:embeddedFont>
      <p:font typeface="Nunito Sans Expanded Bold" charset="1" panose="00000000000000000000"/>
      <p:regular r:id="rId41"/>
    </p:embeddedFont>
    <p:embeddedFont>
      <p:font typeface="Nunito Sans Expanded Medium" charset="1" panose="00000000000000000000"/>
      <p:regular r:id="rId42"/>
    </p:embeddedFont>
    <p:embeddedFont>
      <p:font typeface="Roboto Mono" charset="1" panose="00000000000000000000"/>
      <p:regular r:id="rId43"/>
    </p:embeddedFont>
    <p:embeddedFont>
      <p:font typeface="Roboto Mono Bold" charset="1" panose="00000000000000000000"/>
      <p:regular r:id="rId44"/>
    </p:embeddedFont>
    <p:embeddedFont>
      <p:font typeface="Arimo Bold" charset="1" panose="020B0704020202020204"/>
      <p:regular r:id="rId45"/>
    </p:embeddedFont>
    <p:embeddedFont>
      <p:font typeface="Nunito Sans Expanded Semi-Bold" charset="1" panose="00000000000000000000"/>
      <p:regular r:id="rId46"/>
    </p:embeddedFont>
    <p:embeddedFont>
      <p:font typeface="Roboto" charset="1" panose="02000000000000000000"/>
      <p:regular r:id="rId47"/>
    </p:embeddedFont>
    <p:embeddedFont>
      <p:font typeface="Roboto Bold" charset="1" panose="02000000000000000000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3557636" y="3851985"/>
            <a:ext cx="12354343" cy="27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71"/>
              </a:lnSpc>
            </a:pPr>
            <a:r>
              <a:rPr lang="en-US" sz="10664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PROJETO APRENDIZAGEM DE MÁQUINA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358180" y="4165025"/>
            <a:ext cx="354514" cy="354514"/>
          </a:xfrm>
          <a:custGeom>
            <a:avLst/>
            <a:gdLst/>
            <a:ahLst/>
            <a:cxnLst/>
            <a:rect r="r" b="b" t="t" l="l"/>
            <a:pathLst>
              <a:path h="354514" w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75306" y="4165025"/>
            <a:ext cx="354514" cy="354514"/>
          </a:xfrm>
          <a:custGeom>
            <a:avLst/>
            <a:gdLst/>
            <a:ahLst/>
            <a:cxnLst/>
            <a:rect r="r" b="b" t="t" l="l"/>
            <a:pathLst>
              <a:path h="354514" w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309534" y="5874908"/>
            <a:ext cx="3904425" cy="1520262"/>
            <a:chOff x="0" y="0"/>
            <a:chExt cx="5205900" cy="2027016"/>
          </a:xfrm>
        </p:grpSpPr>
        <p:sp>
          <p:nvSpPr>
            <p:cNvPr name="Freeform 9" id="9"/>
            <p:cNvSpPr/>
            <p:nvPr/>
          </p:nvSpPr>
          <p:spPr>
            <a:xfrm flipH="false" flipV="false" rot="-646737">
              <a:off x="57404" y="466417"/>
              <a:ext cx="5091093" cy="1094183"/>
            </a:xfrm>
            <a:custGeom>
              <a:avLst/>
              <a:gdLst/>
              <a:ahLst/>
              <a:cxnLst/>
              <a:rect r="r" b="b" t="t" l="l"/>
              <a:pathLst>
                <a:path h="1094183" w="5091093">
                  <a:moveTo>
                    <a:pt x="0" y="0"/>
                  </a:moveTo>
                  <a:lnTo>
                    <a:pt x="5091093" y="0"/>
                  </a:lnTo>
                  <a:lnTo>
                    <a:pt x="5091093" y="1094183"/>
                  </a:lnTo>
                  <a:lnTo>
                    <a:pt x="0" y="1094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4367" t="-175930" r="-8781" b="-42391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-646737">
              <a:off x="894554" y="660087"/>
              <a:ext cx="3402541" cy="631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2"/>
                </a:lnSpc>
                <a:spcBef>
                  <a:spcPct val="0"/>
                </a:spcBef>
              </a:pPr>
              <a:r>
                <a:rPr lang="en-US" sz="2770" spc="407">
                  <a:solidFill>
                    <a:srgbClr val="FFFFFF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REPORT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2766" y="2356566"/>
            <a:ext cx="5046674" cy="5573868"/>
            <a:chOff x="0" y="0"/>
            <a:chExt cx="1728779" cy="19093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8779" cy="1909374"/>
            </a:xfrm>
            <a:custGeom>
              <a:avLst/>
              <a:gdLst/>
              <a:ahLst/>
              <a:cxnLst/>
              <a:rect r="r" b="b" t="t" l="l"/>
              <a:pathLst>
                <a:path h="1909374" w="1728779">
                  <a:moveTo>
                    <a:pt x="55226" y="0"/>
                  </a:moveTo>
                  <a:lnTo>
                    <a:pt x="1673552" y="0"/>
                  </a:lnTo>
                  <a:cubicBezTo>
                    <a:pt x="1704053" y="0"/>
                    <a:pt x="1728779" y="24726"/>
                    <a:pt x="1728779" y="55226"/>
                  </a:cubicBezTo>
                  <a:lnTo>
                    <a:pt x="1728779" y="1854147"/>
                  </a:lnTo>
                  <a:cubicBezTo>
                    <a:pt x="1728779" y="1884648"/>
                    <a:pt x="1704053" y="1909374"/>
                    <a:pt x="1673552" y="1909374"/>
                  </a:cubicBezTo>
                  <a:lnTo>
                    <a:pt x="55226" y="1909374"/>
                  </a:lnTo>
                  <a:cubicBezTo>
                    <a:pt x="24726" y="1909374"/>
                    <a:pt x="0" y="1884648"/>
                    <a:pt x="0" y="1854147"/>
                  </a:cubicBezTo>
                  <a:lnTo>
                    <a:pt x="0" y="55226"/>
                  </a:lnTo>
                  <a:cubicBezTo>
                    <a:pt x="0" y="24726"/>
                    <a:pt x="24726" y="0"/>
                    <a:pt x="55226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8779" cy="1947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20512" y="2356566"/>
            <a:ext cx="5046674" cy="5573868"/>
            <a:chOff x="0" y="0"/>
            <a:chExt cx="1728779" cy="19093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8779" cy="1909374"/>
            </a:xfrm>
            <a:custGeom>
              <a:avLst/>
              <a:gdLst/>
              <a:ahLst/>
              <a:cxnLst/>
              <a:rect r="r" b="b" t="t" l="l"/>
              <a:pathLst>
                <a:path h="1909374" w="1728779">
                  <a:moveTo>
                    <a:pt x="55226" y="0"/>
                  </a:moveTo>
                  <a:lnTo>
                    <a:pt x="1673552" y="0"/>
                  </a:lnTo>
                  <a:cubicBezTo>
                    <a:pt x="1704053" y="0"/>
                    <a:pt x="1728779" y="24726"/>
                    <a:pt x="1728779" y="55226"/>
                  </a:cubicBezTo>
                  <a:lnTo>
                    <a:pt x="1728779" y="1854147"/>
                  </a:lnTo>
                  <a:cubicBezTo>
                    <a:pt x="1728779" y="1884648"/>
                    <a:pt x="1704053" y="1909374"/>
                    <a:pt x="1673552" y="1909374"/>
                  </a:cubicBezTo>
                  <a:lnTo>
                    <a:pt x="55226" y="1909374"/>
                  </a:lnTo>
                  <a:cubicBezTo>
                    <a:pt x="24726" y="1909374"/>
                    <a:pt x="0" y="1884648"/>
                    <a:pt x="0" y="1854147"/>
                  </a:cubicBezTo>
                  <a:lnTo>
                    <a:pt x="0" y="55226"/>
                  </a:lnTo>
                  <a:cubicBezTo>
                    <a:pt x="0" y="24726"/>
                    <a:pt x="24726" y="0"/>
                    <a:pt x="55226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28779" cy="1947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37684" y="2748445"/>
            <a:ext cx="4316837" cy="4316837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127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1270">
                  <a:moveTo>
                    <a:pt x="5985510" y="0"/>
                  </a:moveTo>
                  <a:lnTo>
                    <a:pt x="364490" y="0"/>
                  </a:lnTo>
                  <a:cubicBezTo>
                    <a:pt x="162560" y="0"/>
                    <a:pt x="0" y="162560"/>
                    <a:pt x="0" y="364490"/>
                  </a:cubicBezTo>
                  <a:lnTo>
                    <a:pt x="0" y="5986780"/>
                  </a:lnTo>
                  <a:cubicBezTo>
                    <a:pt x="0" y="6187440"/>
                    <a:pt x="162560" y="6350000"/>
                    <a:pt x="364490" y="6350000"/>
                  </a:cubicBezTo>
                  <a:lnTo>
                    <a:pt x="5986780" y="6350000"/>
                  </a:lnTo>
                  <a:cubicBezTo>
                    <a:pt x="6187440" y="6350000"/>
                    <a:pt x="6351270" y="6187440"/>
                    <a:pt x="6351270" y="5985510"/>
                  </a:cubicBezTo>
                  <a:lnTo>
                    <a:pt x="6351270" y="364490"/>
                  </a:lnTo>
                  <a:cubicBezTo>
                    <a:pt x="6350000" y="162560"/>
                    <a:pt x="6187440" y="0"/>
                    <a:pt x="5985510" y="0"/>
                  </a:cubicBezTo>
                  <a:close/>
                </a:path>
              </a:pathLst>
            </a:custGeom>
            <a:blipFill>
              <a:blip r:embed="rId2"/>
              <a:stretch>
                <a:fillRect l="-33845" t="-68378" r="-2260" b="-1313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985431" y="2748445"/>
            <a:ext cx="4316837" cy="4316837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127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1270">
                  <a:moveTo>
                    <a:pt x="5985510" y="0"/>
                  </a:moveTo>
                  <a:lnTo>
                    <a:pt x="364490" y="0"/>
                  </a:lnTo>
                  <a:cubicBezTo>
                    <a:pt x="162560" y="0"/>
                    <a:pt x="0" y="162560"/>
                    <a:pt x="0" y="364490"/>
                  </a:cubicBezTo>
                  <a:lnTo>
                    <a:pt x="0" y="5986780"/>
                  </a:lnTo>
                  <a:cubicBezTo>
                    <a:pt x="0" y="6187440"/>
                    <a:pt x="162560" y="6350000"/>
                    <a:pt x="364490" y="6350000"/>
                  </a:cubicBezTo>
                  <a:lnTo>
                    <a:pt x="5986780" y="6350000"/>
                  </a:lnTo>
                  <a:cubicBezTo>
                    <a:pt x="6187440" y="6350000"/>
                    <a:pt x="6351270" y="6187440"/>
                    <a:pt x="6351270" y="5985510"/>
                  </a:cubicBezTo>
                  <a:lnTo>
                    <a:pt x="6351270" y="364490"/>
                  </a:lnTo>
                  <a:cubicBezTo>
                    <a:pt x="6350000" y="162560"/>
                    <a:pt x="6187440" y="0"/>
                    <a:pt x="5985510" y="0"/>
                  </a:cubicBezTo>
                  <a:close/>
                </a:path>
              </a:pathLst>
            </a:custGeom>
            <a:blipFill>
              <a:blip r:embed="rId3"/>
              <a:stretch>
                <a:fillRect l="-22816" t="-10104" r="-32952" b="-8369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68561" y="2356566"/>
            <a:ext cx="5046674" cy="5573868"/>
            <a:chOff x="0" y="0"/>
            <a:chExt cx="1728779" cy="19093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28779" cy="1909374"/>
            </a:xfrm>
            <a:custGeom>
              <a:avLst/>
              <a:gdLst/>
              <a:ahLst/>
              <a:cxnLst/>
              <a:rect r="r" b="b" t="t" l="l"/>
              <a:pathLst>
                <a:path h="1909374" w="1728779">
                  <a:moveTo>
                    <a:pt x="55226" y="0"/>
                  </a:moveTo>
                  <a:lnTo>
                    <a:pt x="1673552" y="0"/>
                  </a:lnTo>
                  <a:cubicBezTo>
                    <a:pt x="1704053" y="0"/>
                    <a:pt x="1728779" y="24726"/>
                    <a:pt x="1728779" y="55226"/>
                  </a:cubicBezTo>
                  <a:lnTo>
                    <a:pt x="1728779" y="1854147"/>
                  </a:lnTo>
                  <a:cubicBezTo>
                    <a:pt x="1728779" y="1884648"/>
                    <a:pt x="1704053" y="1909374"/>
                    <a:pt x="1673552" y="1909374"/>
                  </a:cubicBezTo>
                  <a:lnTo>
                    <a:pt x="55226" y="1909374"/>
                  </a:lnTo>
                  <a:cubicBezTo>
                    <a:pt x="24726" y="1909374"/>
                    <a:pt x="0" y="1884648"/>
                    <a:pt x="0" y="1854147"/>
                  </a:cubicBezTo>
                  <a:lnTo>
                    <a:pt x="0" y="55226"/>
                  </a:lnTo>
                  <a:cubicBezTo>
                    <a:pt x="0" y="24726"/>
                    <a:pt x="24726" y="0"/>
                    <a:pt x="55226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28779" cy="1947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994128" y="6585250"/>
            <a:ext cx="189564" cy="249658"/>
            <a:chOff x="0" y="0"/>
            <a:chExt cx="617156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7156" cy="812800"/>
            </a:xfrm>
            <a:custGeom>
              <a:avLst/>
              <a:gdLst/>
              <a:ahLst/>
              <a:cxnLst/>
              <a:rect r="r" b="b" t="t" l="l"/>
              <a:pathLst>
                <a:path h="812800" w="617156">
                  <a:moveTo>
                    <a:pt x="617156" y="0"/>
                  </a:moveTo>
                  <a:lnTo>
                    <a:pt x="617156" y="812800"/>
                  </a:lnTo>
                  <a:lnTo>
                    <a:pt x="308578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61715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17156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433479" y="2748445"/>
            <a:ext cx="4316837" cy="4316837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127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1270">
                  <a:moveTo>
                    <a:pt x="5985510" y="0"/>
                  </a:moveTo>
                  <a:lnTo>
                    <a:pt x="364490" y="0"/>
                  </a:lnTo>
                  <a:cubicBezTo>
                    <a:pt x="162560" y="0"/>
                    <a:pt x="0" y="162560"/>
                    <a:pt x="0" y="364490"/>
                  </a:cubicBezTo>
                  <a:lnTo>
                    <a:pt x="0" y="5986780"/>
                  </a:lnTo>
                  <a:cubicBezTo>
                    <a:pt x="0" y="6187440"/>
                    <a:pt x="162560" y="6350000"/>
                    <a:pt x="364490" y="6350000"/>
                  </a:cubicBezTo>
                  <a:lnTo>
                    <a:pt x="5986780" y="6350000"/>
                  </a:lnTo>
                  <a:cubicBezTo>
                    <a:pt x="6187440" y="6350000"/>
                    <a:pt x="6351270" y="6187440"/>
                    <a:pt x="6351270" y="5985510"/>
                  </a:cubicBezTo>
                  <a:lnTo>
                    <a:pt x="6351270" y="364490"/>
                  </a:lnTo>
                  <a:cubicBezTo>
                    <a:pt x="6350000" y="162560"/>
                    <a:pt x="6187440" y="0"/>
                    <a:pt x="5985510" y="0"/>
                  </a:cubicBezTo>
                  <a:close/>
                </a:path>
              </a:pathLst>
            </a:custGeom>
            <a:blipFill>
              <a:blip r:embed="rId4"/>
              <a:stretch>
                <a:fillRect l="-45006" t="-65533" r="-52159" b="-97407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476675" y="7485570"/>
            <a:ext cx="2499199" cy="19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2"/>
              </a:lnSpc>
            </a:pPr>
            <a:r>
              <a:rPr lang="en-US" sz="1546" b="true">
                <a:solidFill>
                  <a:srgbClr val="211F1C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Kailane Felix (@kefs)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2766" y="1349558"/>
            <a:ext cx="5195160" cy="634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70"/>
              </a:lnSpc>
              <a:spcBef>
                <a:spcPct val="0"/>
              </a:spcBef>
            </a:pPr>
            <a:r>
              <a:rPr lang="en-US" sz="4723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INTEGRANTES DO GRUPO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17900" y="7485570"/>
            <a:ext cx="3039509" cy="19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2"/>
              </a:lnSpc>
            </a:pPr>
            <a:r>
              <a:rPr lang="en-US" sz="1546" b="true">
                <a:solidFill>
                  <a:srgbClr val="211F1C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Pedro Peixinho (@phagp)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15011" y="7485570"/>
            <a:ext cx="2851898" cy="19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2"/>
              </a:lnSpc>
            </a:pPr>
            <a:r>
              <a:rPr lang="en-US" sz="1546" b="true">
                <a:solidFill>
                  <a:srgbClr val="211F1C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Sérgio Barreto (@slbp)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050777" y="4094178"/>
            <a:ext cx="6667500" cy="874356"/>
            <a:chOff x="0" y="0"/>
            <a:chExt cx="2126876" cy="2789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6876" cy="278912"/>
            </a:xfrm>
            <a:custGeom>
              <a:avLst/>
              <a:gdLst/>
              <a:ahLst/>
              <a:cxnLst/>
              <a:rect r="r" b="b" t="t" l="l"/>
              <a:pathLst>
                <a:path h="278912" w="2126876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26876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557"/>
                </a:lnSpc>
              </a:pPr>
              <a:r>
                <a:rPr lang="en-US" b="true" sz="1739" spc="255">
                  <a:solidFill>
                    <a:srgbClr val="000000"/>
                  </a:solidFill>
                  <a:latin typeface="Nunito Sans Expanded Medium"/>
                  <a:ea typeface="Nunito Sans Expanded Medium"/>
                  <a:cs typeface="Nunito Sans Expanded Medium"/>
                  <a:sym typeface="Nunito Sans Expanded Medium"/>
                </a:rPr>
                <a:t>OBJETIVOS E DESCRIÇÃO DO PROJETO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68872" y="4094178"/>
            <a:ext cx="897095" cy="874356"/>
            <a:chOff x="0" y="0"/>
            <a:chExt cx="286166" cy="2789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6166" cy="278912"/>
            </a:xfrm>
            <a:custGeom>
              <a:avLst/>
              <a:gdLst/>
              <a:ahLst/>
              <a:cxnLst/>
              <a:rect r="r" b="b" t="t" l="l"/>
              <a:pathLst>
                <a:path h="278912" w="286166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86166" cy="33606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3145"/>
                </a:lnSpc>
              </a:pPr>
              <a:r>
                <a:rPr lang="en-US" b="true" sz="2139" spc="314">
                  <a:solidFill>
                    <a:srgbClr val="000000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050777" y="5295235"/>
            <a:ext cx="6667500" cy="874356"/>
            <a:chOff x="0" y="0"/>
            <a:chExt cx="2126876" cy="2789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26876" cy="278912"/>
            </a:xfrm>
            <a:custGeom>
              <a:avLst/>
              <a:gdLst/>
              <a:ahLst/>
              <a:cxnLst/>
              <a:rect r="r" b="b" t="t" l="l"/>
              <a:pathLst>
                <a:path h="278912" w="2126876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26876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557"/>
                </a:lnSpc>
              </a:pPr>
              <a:r>
                <a:rPr lang="en-US" b="true" sz="1739" spc="255">
                  <a:solidFill>
                    <a:srgbClr val="000000"/>
                  </a:solidFill>
                  <a:latin typeface="Nunito Sans Expanded Medium"/>
                  <a:ea typeface="Nunito Sans Expanded Medium"/>
                  <a:cs typeface="Nunito Sans Expanded Medium"/>
                  <a:sym typeface="Nunito Sans Expanded Medium"/>
                </a:rPr>
                <a:t>RESUMO DE CADA UMA DAS ETAPAS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68872" y="5295235"/>
            <a:ext cx="897095" cy="874356"/>
            <a:chOff x="0" y="0"/>
            <a:chExt cx="286166" cy="2789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6166" cy="278912"/>
            </a:xfrm>
            <a:custGeom>
              <a:avLst/>
              <a:gdLst/>
              <a:ahLst/>
              <a:cxnLst/>
              <a:rect r="r" b="b" t="t" l="l"/>
              <a:pathLst>
                <a:path h="278912" w="286166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86166" cy="33606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3145"/>
                </a:lnSpc>
              </a:pPr>
              <a:r>
                <a:rPr lang="en-US" b="true" sz="2139" spc="314">
                  <a:solidFill>
                    <a:srgbClr val="000000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050777" y="6496292"/>
            <a:ext cx="6667500" cy="874356"/>
            <a:chOff x="0" y="0"/>
            <a:chExt cx="2126876" cy="2789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26876" cy="278912"/>
            </a:xfrm>
            <a:custGeom>
              <a:avLst/>
              <a:gdLst/>
              <a:ahLst/>
              <a:cxnLst/>
              <a:rect r="r" b="b" t="t" l="l"/>
              <a:pathLst>
                <a:path h="278912" w="2126876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26876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557"/>
                </a:lnSpc>
              </a:pPr>
              <a:r>
                <a:rPr lang="en-US" b="true" sz="1739" spc="255">
                  <a:solidFill>
                    <a:srgbClr val="000000"/>
                  </a:solidFill>
                  <a:latin typeface="Nunito Sans Expanded Medium"/>
                  <a:ea typeface="Nunito Sans Expanded Medium"/>
                  <a:cs typeface="Nunito Sans Expanded Medium"/>
                  <a:sym typeface="Nunito Sans Expanded Medium"/>
                </a:rPr>
                <a:t>PRINCIPAIS DESAFIOS E DECISÕES TOMADAS PRA SUPERA-LOS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68872" y="6496292"/>
            <a:ext cx="897095" cy="874356"/>
            <a:chOff x="0" y="0"/>
            <a:chExt cx="286166" cy="2789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6166" cy="278912"/>
            </a:xfrm>
            <a:custGeom>
              <a:avLst/>
              <a:gdLst/>
              <a:ahLst/>
              <a:cxnLst/>
              <a:rect r="r" b="b" t="t" l="l"/>
              <a:pathLst>
                <a:path h="278912" w="286166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86166" cy="33606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3145"/>
                </a:lnSpc>
              </a:pPr>
              <a:r>
                <a:rPr lang="en-US" b="true" sz="2139" spc="314">
                  <a:solidFill>
                    <a:srgbClr val="000000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750688" y="4094178"/>
            <a:ext cx="6667500" cy="874356"/>
            <a:chOff x="0" y="0"/>
            <a:chExt cx="2126876" cy="2789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26876" cy="278912"/>
            </a:xfrm>
            <a:custGeom>
              <a:avLst/>
              <a:gdLst/>
              <a:ahLst/>
              <a:cxnLst/>
              <a:rect r="r" b="b" t="t" l="l"/>
              <a:pathLst>
                <a:path h="278912" w="2126876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126876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557"/>
                </a:lnSpc>
              </a:pPr>
              <a:r>
                <a:rPr lang="en-US" b="true" sz="1739" spc="255">
                  <a:solidFill>
                    <a:srgbClr val="000000"/>
                  </a:solidFill>
                  <a:latin typeface="Nunito Sans Expanded Medium"/>
                  <a:ea typeface="Nunito Sans Expanded Medium"/>
                  <a:cs typeface="Nunito Sans Expanded Medium"/>
                  <a:sym typeface="Nunito Sans Expanded Medium"/>
                </a:rPr>
                <a:t>IMPLEMENTAÇÃO E RESULTADOS INDIVIDUAIS DE CADA MODELO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68783" y="4094178"/>
            <a:ext cx="897095" cy="874356"/>
            <a:chOff x="0" y="0"/>
            <a:chExt cx="286166" cy="2789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6166" cy="278912"/>
            </a:xfrm>
            <a:custGeom>
              <a:avLst/>
              <a:gdLst/>
              <a:ahLst/>
              <a:cxnLst/>
              <a:rect r="r" b="b" t="t" l="l"/>
              <a:pathLst>
                <a:path h="278912" w="286166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286166" cy="33606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3145"/>
                </a:lnSpc>
              </a:pPr>
              <a:r>
                <a:rPr lang="en-US" b="true" sz="2139" spc="314">
                  <a:solidFill>
                    <a:srgbClr val="000000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4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68783" y="5295235"/>
            <a:ext cx="897095" cy="874356"/>
            <a:chOff x="0" y="0"/>
            <a:chExt cx="286166" cy="2789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6166" cy="278912"/>
            </a:xfrm>
            <a:custGeom>
              <a:avLst/>
              <a:gdLst/>
              <a:ahLst/>
              <a:cxnLst/>
              <a:rect r="r" b="b" t="t" l="l"/>
              <a:pathLst>
                <a:path h="278912" w="286166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286166" cy="33606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3145"/>
                </a:lnSpc>
              </a:pPr>
              <a:r>
                <a:rPr lang="en-US" b="true" sz="2139" spc="314">
                  <a:solidFill>
                    <a:srgbClr val="000000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5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751628" y="5295235"/>
            <a:ext cx="6667500" cy="874356"/>
            <a:chOff x="0" y="0"/>
            <a:chExt cx="2126876" cy="27891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26876" cy="278912"/>
            </a:xfrm>
            <a:custGeom>
              <a:avLst/>
              <a:gdLst/>
              <a:ahLst/>
              <a:cxnLst/>
              <a:rect r="r" b="b" t="t" l="l"/>
              <a:pathLst>
                <a:path h="278912" w="2126876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126876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557"/>
                </a:lnSpc>
              </a:pPr>
              <a:r>
                <a:rPr lang="en-US" b="true" sz="1739" spc="255">
                  <a:solidFill>
                    <a:srgbClr val="000000"/>
                  </a:solidFill>
                  <a:latin typeface="Nunito Sans Expanded Medium"/>
                  <a:ea typeface="Nunito Sans Expanded Medium"/>
                  <a:cs typeface="Nunito Sans Expanded Medium"/>
                  <a:sym typeface="Nunito Sans Expanded Medium"/>
                </a:rPr>
                <a:t>ANÁLISE COMPARATIVA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6486423" y="496912"/>
            <a:ext cx="991952" cy="847668"/>
          </a:xfrm>
          <a:custGeom>
            <a:avLst/>
            <a:gdLst/>
            <a:ahLst/>
            <a:cxnLst/>
            <a:rect r="r" b="b" t="t" l="l"/>
            <a:pathLst>
              <a:path h="847668" w="991952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868872" y="2687308"/>
            <a:ext cx="3541091" cy="96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21"/>
              </a:lnSpc>
              <a:spcBef>
                <a:spcPct val="0"/>
              </a:spcBef>
            </a:pPr>
            <a:r>
              <a:rPr lang="en-US" sz="7150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ROADMAP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28030" y="6496292"/>
            <a:ext cx="897095" cy="874356"/>
            <a:chOff x="0" y="0"/>
            <a:chExt cx="286166" cy="27891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86166" cy="278912"/>
            </a:xfrm>
            <a:custGeom>
              <a:avLst/>
              <a:gdLst/>
              <a:ahLst/>
              <a:cxnLst/>
              <a:rect r="r" b="b" t="t" l="l"/>
              <a:pathLst>
                <a:path h="278912" w="286166">
                  <a:moveTo>
                    <a:pt x="139456" y="0"/>
                  </a:moveTo>
                  <a:lnTo>
                    <a:pt x="146710" y="0"/>
                  </a:lnTo>
                  <a:cubicBezTo>
                    <a:pt x="183696" y="0"/>
                    <a:pt x="219167" y="14693"/>
                    <a:pt x="245320" y="40846"/>
                  </a:cubicBezTo>
                  <a:cubicBezTo>
                    <a:pt x="271473" y="66999"/>
                    <a:pt x="286166" y="102470"/>
                    <a:pt x="286166" y="139456"/>
                  </a:cubicBezTo>
                  <a:lnTo>
                    <a:pt x="286166" y="139456"/>
                  </a:lnTo>
                  <a:cubicBezTo>
                    <a:pt x="286166" y="176442"/>
                    <a:pt x="271473" y="211913"/>
                    <a:pt x="245320" y="238066"/>
                  </a:cubicBezTo>
                  <a:cubicBezTo>
                    <a:pt x="219167" y="264219"/>
                    <a:pt x="183696" y="278912"/>
                    <a:pt x="146710" y="278912"/>
                  </a:cubicBezTo>
                  <a:lnTo>
                    <a:pt x="139456" y="278912"/>
                  </a:lnTo>
                  <a:cubicBezTo>
                    <a:pt x="102470" y="278912"/>
                    <a:pt x="66999" y="264219"/>
                    <a:pt x="40846" y="238066"/>
                  </a:cubicBezTo>
                  <a:cubicBezTo>
                    <a:pt x="14693" y="211913"/>
                    <a:pt x="0" y="176442"/>
                    <a:pt x="0" y="139456"/>
                  </a:cubicBezTo>
                  <a:lnTo>
                    <a:pt x="0" y="139456"/>
                  </a:lnTo>
                  <a:cubicBezTo>
                    <a:pt x="0" y="102470"/>
                    <a:pt x="14693" y="66999"/>
                    <a:pt x="40846" y="40846"/>
                  </a:cubicBezTo>
                  <a:cubicBezTo>
                    <a:pt x="66999" y="14693"/>
                    <a:pt x="102470" y="0"/>
                    <a:pt x="139456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286166" cy="33606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3145"/>
                </a:lnSpc>
              </a:pPr>
              <a:r>
                <a:rPr lang="en-US" b="true" sz="2139" spc="314">
                  <a:solidFill>
                    <a:srgbClr val="000000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6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810875" y="6496292"/>
            <a:ext cx="6667500" cy="874356"/>
            <a:chOff x="0" y="0"/>
            <a:chExt cx="2126876" cy="27891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26876" cy="278912"/>
            </a:xfrm>
            <a:custGeom>
              <a:avLst/>
              <a:gdLst/>
              <a:ahLst/>
              <a:cxnLst/>
              <a:rect r="r" b="b" t="t" l="l"/>
              <a:pathLst>
                <a:path h="278912" w="2126876">
                  <a:moveTo>
                    <a:pt x="41801" y="0"/>
                  </a:moveTo>
                  <a:lnTo>
                    <a:pt x="2085075" y="0"/>
                  </a:lnTo>
                  <a:cubicBezTo>
                    <a:pt x="2096161" y="0"/>
                    <a:pt x="2106793" y="4404"/>
                    <a:pt x="2114633" y="12243"/>
                  </a:cubicBezTo>
                  <a:cubicBezTo>
                    <a:pt x="2122472" y="20083"/>
                    <a:pt x="2126876" y="30715"/>
                    <a:pt x="2126876" y="41801"/>
                  </a:cubicBezTo>
                  <a:lnTo>
                    <a:pt x="2126876" y="237111"/>
                  </a:lnTo>
                  <a:cubicBezTo>
                    <a:pt x="2126876" y="248197"/>
                    <a:pt x="2122472" y="258830"/>
                    <a:pt x="2114633" y="266669"/>
                  </a:cubicBezTo>
                  <a:cubicBezTo>
                    <a:pt x="2106793" y="274508"/>
                    <a:pt x="2096161" y="278912"/>
                    <a:pt x="2085075" y="278912"/>
                  </a:cubicBezTo>
                  <a:lnTo>
                    <a:pt x="41801" y="278912"/>
                  </a:lnTo>
                  <a:cubicBezTo>
                    <a:pt x="30715" y="278912"/>
                    <a:pt x="20083" y="274508"/>
                    <a:pt x="12243" y="266669"/>
                  </a:cubicBezTo>
                  <a:cubicBezTo>
                    <a:pt x="4404" y="258830"/>
                    <a:pt x="0" y="248197"/>
                    <a:pt x="0" y="237111"/>
                  </a:cubicBezTo>
                  <a:lnTo>
                    <a:pt x="0" y="41801"/>
                  </a:lnTo>
                  <a:cubicBezTo>
                    <a:pt x="0" y="30715"/>
                    <a:pt x="4404" y="20083"/>
                    <a:pt x="12243" y="12243"/>
                  </a:cubicBezTo>
                  <a:cubicBezTo>
                    <a:pt x="20083" y="4404"/>
                    <a:pt x="30715" y="0"/>
                    <a:pt x="41801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126876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557"/>
                </a:lnSpc>
              </a:pPr>
              <a:r>
                <a:rPr lang="en-US" b="true" sz="1739" spc="255">
                  <a:solidFill>
                    <a:srgbClr val="000000"/>
                  </a:solidFill>
                  <a:latin typeface="Nunito Sans Expanded Medium"/>
                  <a:ea typeface="Nunito Sans Expanded Medium"/>
                  <a:cs typeface="Nunito Sans Expanded Medium"/>
                  <a:sym typeface="Nunito Sans Expanded Medium"/>
                </a:rPr>
                <a:t>ESCOLHA DO MODELO E AVALIAÇÃO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881696" y="3022502"/>
            <a:ext cx="2524608" cy="684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67"/>
              </a:lnSpc>
              <a:spcBef>
                <a:spcPct val="0"/>
              </a:spcBef>
            </a:pPr>
            <a:r>
              <a:rPr lang="en-US" sz="5116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OBJETIVOS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70161" y="4060339"/>
            <a:ext cx="16747677" cy="3299409"/>
            <a:chOff x="0" y="0"/>
            <a:chExt cx="4604922" cy="9072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04922" cy="907202"/>
            </a:xfrm>
            <a:custGeom>
              <a:avLst/>
              <a:gdLst/>
              <a:ahLst/>
              <a:cxnLst/>
              <a:rect r="r" b="b" t="t" l="l"/>
              <a:pathLst>
                <a:path h="907202" w="4604922">
                  <a:moveTo>
                    <a:pt x="16642" y="0"/>
                  </a:moveTo>
                  <a:lnTo>
                    <a:pt x="4588280" y="0"/>
                  </a:lnTo>
                  <a:cubicBezTo>
                    <a:pt x="4592694" y="0"/>
                    <a:pt x="4596927" y="1753"/>
                    <a:pt x="4600048" y="4874"/>
                  </a:cubicBezTo>
                  <a:cubicBezTo>
                    <a:pt x="4603169" y="7995"/>
                    <a:pt x="4604922" y="12228"/>
                    <a:pt x="4604922" y="16642"/>
                  </a:cubicBezTo>
                  <a:lnTo>
                    <a:pt x="4604922" y="890560"/>
                  </a:lnTo>
                  <a:cubicBezTo>
                    <a:pt x="4604922" y="894974"/>
                    <a:pt x="4603169" y="899207"/>
                    <a:pt x="4600048" y="902327"/>
                  </a:cubicBezTo>
                  <a:cubicBezTo>
                    <a:pt x="4596927" y="905448"/>
                    <a:pt x="4592694" y="907202"/>
                    <a:pt x="4588280" y="907202"/>
                  </a:cubicBezTo>
                  <a:lnTo>
                    <a:pt x="16642" y="907202"/>
                  </a:lnTo>
                  <a:cubicBezTo>
                    <a:pt x="12228" y="907202"/>
                    <a:pt x="7995" y="905448"/>
                    <a:pt x="4874" y="902327"/>
                  </a:cubicBezTo>
                  <a:cubicBezTo>
                    <a:pt x="1753" y="899207"/>
                    <a:pt x="0" y="894974"/>
                    <a:pt x="0" y="890560"/>
                  </a:cubicBezTo>
                  <a:lnTo>
                    <a:pt x="0" y="16642"/>
                  </a:lnTo>
                  <a:cubicBezTo>
                    <a:pt x="0" y="12228"/>
                    <a:pt x="1753" y="7995"/>
                    <a:pt x="4874" y="4874"/>
                  </a:cubicBezTo>
                  <a:cubicBezTo>
                    <a:pt x="7995" y="1753"/>
                    <a:pt x="12228" y="0"/>
                    <a:pt x="16642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604922" cy="945302"/>
            </a:xfrm>
            <a:prstGeom prst="rect">
              <a:avLst/>
            </a:prstGeom>
          </p:spPr>
          <p:txBody>
            <a:bodyPr anchor="ctr" rtlCol="false" tIns="55174" lIns="55174" bIns="55174" rIns="55174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28818" y="4409081"/>
            <a:ext cx="15630364" cy="252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2"/>
              </a:lnSpc>
              <a:spcBef>
                <a:spcPct val="0"/>
              </a:spcBef>
            </a:pPr>
            <a:r>
              <a:rPr lang="en-US" sz="2743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O objetivo principal deste projeto é desenvolver e avaliar modelos preditivos capazes de classificar corretamente instâncias do dataset fornecido, que consiste em dados da área de telecomunicações. O problema foi transformado em uma tarefa de classificação binária, onde o objetivo é prever se uma condição crítica ocorre (classe 'P') ou não (classe 'N').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515924" y="3836930"/>
            <a:ext cx="13256151" cy="2813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44"/>
              </a:lnSpc>
              <a:spcBef>
                <a:spcPct val="0"/>
              </a:spcBef>
            </a:pPr>
            <a:r>
              <a:rPr lang="en-US" sz="10736">
                <a:solidFill>
                  <a:srgbClr val="004AAD"/>
                </a:solidFill>
                <a:latin typeface="Anton"/>
                <a:ea typeface="Anton"/>
                <a:cs typeface="Anton"/>
                <a:sym typeface="Anton"/>
              </a:rPr>
              <a:t>PRIMEIRA ETAPA: BUSINESS UNDERSTANDING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486423" y="496912"/>
            <a:ext cx="991952" cy="847668"/>
          </a:xfrm>
          <a:custGeom>
            <a:avLst/>
            <a:gdLst/>
            <a:ahLst/>
            <a:cxnLst/>
            <a:rect r="r" b="b" t="t" l="l"/>
            <a:pathLst>
              <a:path h="847668" w="991952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34808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963" t="0" r="-4703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89052" y="2477993"/>
            <a:ext cx="4227265" cy="112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75"/>
              </a:lnSpc>
              <a:spcBef>
                <a:spcPct val="0"/>
              </a:spcBef>
            </a:pPr>
            <a:r>
              <a:rPr lang="en-US" sz="8392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O DATASET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90204" y="5556243"/>
            <a:ext cx="6046472" cy="2405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095" indent="-284548" lvl="1">
              <a:lnSpc>
                <a:spcPts val="3874"/>
              </a:lnSpc>
              <a:buFont typeface="Arial"/>
              <a:buChar char="•"/>
            </a:pPr>
            <a:r>
              <a:rPr lang="en-US" b="true" sz="263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15.000 instâncias </a:t>
            </a:r>
          </a:p>
          <a:p>
            <a:pPr algn="l" marL="569095" indent="-284548" lvl="1">
              <a:lnSpc>
                <a:spcPts val="3874"/>
              </a:lnSpc>
              <a:buFont typeface="Arial"/>
              <a:buChar char="•"/>
            </a:pPr>
            <a:r>
              <a:rPr lang="en-US" b="true" sz="263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48 atributos numéricos “mascarados”</a:t>
            </a:r>
          </a:p>
          <a:p>
            <a:pPr algn="l" marL="569095" indent="-284548" lvl="1">
              <a:lnSpc>
                <a:spcPts val="3874"/>
              </a:lnSpc>
              <a:buFont typeface="Arial"/>
              <a:buChar char="•"/>
            </a:pPr>
            <a:r>
              <a:rPr lang="en-US" b="true" sz="263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1 variável alvo categórica binária (“P” ou “N”)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90204" y="4106411"/>
            <a:ext cx="4850455" cy="947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095" indent="-284548" lvl="1">
              <a:lnSpc>
                <a:spcPts val="3874"/>
              </a:lnSpc>
              <a:buFont typeface="Arial"/>
              <a:buChar char="•"/>
            </a:pPr>
            <a:r>
              <a:rPr lang="en-US" b="true" sz="263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Um problema do setor de telecomunicações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3578539" y="2961953"/>
            <a:ext cx="11130922" cy="65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80"/>
              </a:lnSpc>
              <a:spcBef>
                <a:spcPct val="0"/>
              </a:spcBef>
            </a:pPr>
            <a:r>
              <a:rPr lang="en-US" sz="4831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LIMITAÇÕES DA BASE DE DADOS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451864" y="4118445"/>
            <a:ext cx="9384272" cy="2907314"/>
            <a:chOff x="0" y="0"/>
            <a:chExt cx="1883504" cy="5835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83504" cy="583523"/>
            </a:xfrm>
            <a:custGeom>
              <a:avLst/>
              <a:gdLst/>
              <a:ahLst/>
              <a:cxnLst/>
              <a:rect r="r" b="b" t="t" l="l"/>
              <a:pathLst>
                <a:path h="583523" w="1883504">
                  <a:moveTo>
                    <a:pt x="29700" y="0"/>
                  </a:moveTo>
                  <a:lnTo>
                    <a:pt x="1853804" y="0"/>
                  </a:lnTo>
                  <a:cubicBezTo>
                    <a:pt x="1861681" y="0"/>
                    <a:pt x="1869235" y="3129"/>
                    <a:pt x="1874805" y="8699"/>
                  </a:cubicBezTo>
                  <a:cubicBezTo>
                    <a:pt x="1880375" y="14269"/>
                    <a:pt x="1883504" y="21823"/>
                    <a:pt x="1883504" y="29700"/>
                  </a:cubicBezTo>
                  <a:lnTo>
                    <a:pt x="1883504" y="553823"/>
                  </a:lnTo>
                  <a:cubicBezTo>
                    <a:pt x="1883504" y="561700"/>
                    <a:pt x="1880375" y="569254"/>
                    <a:pt x="1874805" y="574824"/>
                  </a:cubicBezTo>
                  <a:cubicBezTo>
                    <a:pt x="1869235" y="580394"/>
                    <a:pt x="1861681" y="583523"/>
                    <a:pt x="1853804" y="583523"/>
                  </a:cubicBezTo>
                  <a:lnTo>
                    <a:pt x="29700" y="583523"/>
                  </a:lnTo>
                  <a:cubicBezTo>
                    <a:pt x="13297" y="583523"/>
                    <a:pt x="0" y="570226"/>
                    <a:pt x="0" y="553823"/>
                  </a:cubicBezTo>
                  <a:lnTo>
                    <a:pt x="0" y="29700"/>
                  </a:lnTo>
                  <a:cubicBezTo>
                    <a:pt x="0" y="21823"/>
                    <a:pt x="3129" y="14269"/>
                    <a:pt x="8699" y="8699"/>
                  </a:cubicBezTo>
                  <a:cubicBezTo>
                    <a:pt x="14269" y="3129"/>
                    <a:pt x="21823" y="0"/>
                    <a:pt x="2970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83504" cy="621623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849231" y="4314749"/>
            <a:ext cx="8986905" cy="22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3005" indent="-261502" lvl="1">
              <a:lnSpc>
                <a:spcPts val="6056"/>
              </a:lnSpc>
              <a:buAutoNum type="arabicPeriod" startAt="1"/>
            </a:pPr>
            <a:r>
              <a:rPr lang="en-US" b="true" sz="2422" spc="356">
                <a:solidFill>
                  <a:srgbClr val="211F1C"/>
                </a:solidFill>
                <a:latin typeface="Arimo Bold"/>
                <a:ea typeface="Arimo Bold"/>
                <a:cs typeface="Arimo Bold"/>
                <a:sym typeface="Arimo Bold"/>
              </a:rPr>
              <a:t>BINARIZAÇÃO DA CLASSE ALVO</a:t>
            </a:r>
          </a:p>
          <a:p>
            <a:pPr algn="l" marL="523005" indent="-261502" lvl="1">
              <a:lnSpc>
                <a:spcPts val="6056"/>
              </a:lnSpc>
              <a:buAutoNum type="arabicPeriod" startAt="1"/>
            </a:pPr>
            <a:r>
              <a:rPr lang="en-US" b="true" sz="2422" spc="356">
                <a:solidFill>
                  <a:srgbClr val="211F1C"/>
                </a:solidFill>
                <a:latin typeface="Arimo Bold"/>
                <a:ea typeface="Arimo Bold"/>
                <a:cs typeface="Arimo Bold"/>
                <a:sym typeface="Arimo Bold"/>
              </a:rPr>
              <a:t>AUSÊNCIA DE ATRIBUTOS CATEGÓRICOS</a:t>
            </a:r>
          </a:p>
          <a:p>
            <a:pPr algn="l" marL="523005" indent="-261502" lvl="1">
              <a:lnSpc>
                <a:spcPts val="6056"/>
              </a:lnSpc>
              <a:buAutoNum type="arabicPeriod" startAt="1"/>
            </a:pPr>
            <a:r>
              <a:rPr lang="en-US" b="true" sz="2422" spc="356">
                <a:solidFill>
                  <a:srgbClr val="211F1C"/>
                </a:solidFill>
                <a:latin typeface="Arimo Bold"/>
                <a:ea typeface="Arimo Bold"/>
                <a:cs typeface="Arimo Bold"/>
                <a:sym typeface="Arimo Bold"/>
              </a:rPr>
              <a:t>FALTA DE INFORMAÇÃO CONTEXTUAL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598640" y="0"/>
            <a:ext cx="9689360" cy="10287000"/>
          </a:xfrm>
          <a:custGeom>
            <a:avLst/>
            <a:gdLst/>
            <a:ahLst/>
            <a:cxnLst/>
            <a:rect r="r" b="b" t="t" l="l"/>
            <a:pathLst>
              <a:path h="10287000" w="9689360">
                <a:moveTo>
                  <a:pt x="0" y="0"/>
                </a:moveTo>
                <a:lnTo>
                  <a:pt x="9689360" y="0"/>
                </a:lnTo>
                <a:lnTo>
                  <a:pt x="96893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956" t="0" r="-3095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14425"/>
            <a:ext cx="6351388" cy="127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80"/>
              </a:lnSpc>
              <a:spcBef>
                <a:spcPct val="0"/>
              </a:spcBef>
            </a:pPr>
            <a:r>
              <a:rPr lang="en-US" sz="4831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RESUMO DAS QUESTÕES DE NEGÓCIO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3616" y="4403856"/>
            <a:ext cx="6046472" cy="2904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095" indent="-284548" lvl="1">
              <a:lnSpc>
                <a:spcPts val="4665"/>
              </a:lnSpc>
              <a:buFont typeface="Arial"/>
              <a:buChar char="•"/>
            </a:pPr>
            <a:r>
              <a:rPr lang="en-US" b="true" sz="263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Fraudes e Segurança</a:t>
            </a:r>
          </a:p>
          <a:p>
            <a:pPr algn="l" marL="569095" indent="-284548" lvl="1">
              <a:lnSpc>
                <a:spcPts val="4665"/>
              </a:lnSpc>
              <a:buFont typeface="Arial"/>
              <a:buChar char="•"/>
            </a:pPr>
            <a:r>
              <a:rPr lang="en-US" b="true" sz="263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Churn de Clientes</a:t>
            </a:r>
          </a:p>
          <a:p>
            <a:pPr algn="l" marL="569095" indent="-284548" lvl="1">
              <a:lnSpc>
                <a:spcPts val="4665"/>
              </a:lnSpc>
              <a:buFont typeface="Arial"/>
              <a:buChar char="•"/>
            </a:pPr>
            <a:r>
              <a:rPr lang="en-US" b="true" sz="263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Qualidade do Serviço</a:t>
            </a:r>
          </a:p>
          <a:p>
            <a:pPr algn="l" marL="569095" indent="-284548" lvl="1">
              <a:lnSpc>
                <a:spcPts val="4665"/>
              </a:lnSpc>
              <a:buFont typeface="Arial"/>
              <a:buChar char="•"/>
            </a:pPr>
            <a:r>
              <a:rPr lang="en-US" b="true" sz="263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Personalização de Serviços</a:t>
            </a:r>
          </a:p>
          <a:p>
            <a:pPr algn="l" marL="569095" indent="-284548" lvl="1">
              <a:lnSpc>
                <a:spcPts val="4665"/>
              </a:lnSpc>
              <a:buFont typeface="Arial"/>
              <a:buChar char="•"/>
            </a:pPr>
            <a:r>
              <a:rPr lang="en-US" b="true" sz="263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Gerenciamento de Recursos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2228" y="3516140"/>
            <a:ext cx="5429247" cy="638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b="true" sz="3600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Principais desafios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598640" y="0"/>
            <a:ext cx="9689360" cy="10287000"/>
          </a:xfrm>
          <a:custGeom>
            <a:avLst/>
            <a:gdLst/>
            <a:ahLst/>
            <a:cxnLst/>
            <a:rect r="r" b="b" t="t" l="l"/>
            <a:pathLst>
              <a:path h="10287000" w="9689360">
                <a:moveTo>
                  <a:pt x="0" y="0"/>
                </a:moveTo>
                <a:lnTo>
                  <a:pt x="9689360" y="0"/>
                </a:lnTo>
                <a:lnTo>
                  <a:pt x="96893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956" t="0" r="-3095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14425"/>
            <a:ext cx="6351388" cy="127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80"/>
              </a:lnSpc>
              <a:spcBef>
                <a:spcPct val="0"/>
              </a:spcBef>
            </a:pPr>
            <a:r>
              <a:rPr lang="en-US" sz="4831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RESUMO DAS QUESTÕES DE NEGÓCIO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3616" y="4403856"/>
            <a:ext cx="6046472" cy="3495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095" indent="-284548" lvl="1">
              <a:lnSpc>
                <a:spcPts val="4665"/>
              </a:lnSpc>
              <a:buFont typeface="Arial"/>
              <a:buChar char="•"/>
            </a:pPr>
            <a:r>
              <a:rPr lang="en-US" b="true" sz="263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Clientes</a:t>
            </a:r>
          </a:p>
          <a:p>
            <a:pPr algn="l" marL="569095" indent="-284548" lvl="1">
              <a:lnSpc>
                <a:spcPts val="4665"/>
              </a:lnSpc>
              <a:buFont typeface="Arial"/>
              <a:buChar char="•"/>
            </a:pPr>
            <a:r>
              <a:rPr lang="en-US" b="true" sz="263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Provedores de Serviços de Telecomunicações</a:t>
            </a:r>
          </a:p>
          <a:p>
            <a:pPr algn="l" marL="569095" indent="-284548" lvl="1">
              <a:lnSpc>
                <a:spcPts val="4665"/>
              </a:lnSpc>
              <a:buFont typeface="Arial"/>
              <a:buChar char="•"/>
            </a:pPr>
            <a:r>
              <a:rPr lang="en-US" b="true" sz="263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Reguladores Governamentais</a:t>
            </a:r>
          </a:p>
          <a:p>
            <a:pPr algn="l" marL="569095" indent="-284548" lvl="1">
              <a:lnSpc>
                <a:spcPts val="4665"/>
              </a:lnSpc>
              <a:buFont typeface="Arial"/>
              <a:buChar char="•"/>
            </a:pPr>
            <a:r>
              <a:rPr lang="en-US" b="true" sz="263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Investidores e Acionistas</a:t>
            </a:r>
          </a:p>
          <a:p>
            <a:pPr algn="l" marL="569095" indent="-284548" lvl="1">
              <a:lnSpc>
                <a:spcPts val="4665"/>
              </a:lnSpc>
              <a:buFont typeface="Arial"/>
              <a:buChar char="•"/>
            </a:pPr>
            <a:r>
              <a:rPr lang="en-US" b="true" sz="263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Funcionários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5353" y="3547792"/>
            <a:ext cx="6362998" cy="638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b="true" sz="3600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Principais stakeholders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603238" y="1820839"/>
            <a:ext cx="7081524" cy="7167621"/>
          </a:xfrm>
          <a:custGeom>
            <a:avLst/>
            <a:gdLst/>
            <a:ahLst/>
            <a:cxnLst/>
            <a:rect r="r" b="b" t="t" l="l"/>
            <a:pathLst>
              <a:path h="7167621" w="7081524">
                <a:moveTo>
                  <a:pt x="0" y="0"/>
                </a:moveTo>
                <a:lnTo>
                  <a:pt x="7081524" y="0"/>
                </a:lnTo>
                <a:lnTo>
                  <a:pt x="7081524" y="7167621"/>
                </a:lnTo>
                <a:lnTo>
                  <a:pt x="0" y="7167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78539" y="746275"/>
            <a:ext cx="11130922" cy="65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80"/>
              </a:lnSpc>
              <a:spcBef>
                <a:spcPct val="0"/>
              </a:spcBef>
            </a:pPr>
            <a:r>
              <a:rPr lang="en-US" sz="4831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DESCRIÇÃO DA ABORDAGEM ADOTADA (CRISP-DM)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691630" y="1686806"/>
            <a:ext cx="8904741" cy="65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80"/>
              </a:lnSpc>
              <a:spcBef>
                <a:spcPct val="0"/>
              </a:spcBef>
            </a:pPr>
            <a:r>
              <a:rPr lang="en-US" sz="4831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DEFINIÇÃO DE OBJETIVOS MENSURÁVEIS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848442" y="2666787"/>
            <a:ext cx="14591116" cy="5423691"/>
            <a:chOff x="0" y="0"/>
            <a:chExt cx="2928562" cy="10885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8562" cy="1088581"/>
            </a:xfrm>
            <a:custGeom>
              <a:avLst/>
              <a:gdLst/>
              <a:ahLst/>
              <a:cxnLst/>
              <a:rect r="r" b="b" t="t" l="l"/>
              <a:pathLst>
                <a:path h="1088581" w="2928562">
                  <a:moveTo>
                    <a:pt x="19101" y="0"/>
                  </a:moveTo>
                  <a:lnTo>
                    <a:pt x="2909461" y="0"/>
                  </a:lnTo>
                  <a:cubicBezTo>
                    <a:pt x="2914527" y="0"/>
                    <a:pt x="2919385" y="2012"/>
                    <a:pt x="2922967" y="5595"/>
                  </a:cubicBezTo>
                  <a:cubicBezTo>
                    <a:pt x="2926549" y="9177"/>
                    <a:pt x="2928562" y="14035"/>
                    <a:pt x="2928562" y="19101"/>
                  </a:cubicBezTo>
                  <a:lnTo>
                    <a:pt x="2928562" y="1069480"/>
                  </a:lnTo>
                  <a:cubicBezTo>
                    <a:pt x="2928562" y="1080029"/>
                    <a:pt x="2920010" y="1088581"/>
                    <a:pt x="2909461" y="1088581"/>
                  </a:cubicBezTo>
                  <a:lnTo>
                    <a:pt x="19101" y="1088581"/>
                  </a:lnTo>
                  <a:cubicBezTo>
                    <a:pt x="14035" y="1088581"/>
                    <a:pt x="9177" y="1086569"/>
                    <a:pt x="5595" y="1082987"/>
                  </a:cubicBezTo>
                  <a:cubicBezTo>
                    <a:pt x="2012" y="1079404"/>
                    <a:pt x="0" y="1074546"/>
                    <a:pt x="0" y="1069480"/>
                  </a:cubicBezTo>
                  <a:lnTo>
                    <a:pt x="0" y="19101"/>
                  </a:lnTo>
                  <a:cubicBezTo>
                    <a:pt x="0" y="8552"/>
                    <a:pt x="8552" y="0"/>
                    <a:pt x="19101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928562" cy="1126681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392255" y="2918579"/>
            <a:ext cx="13834483" cy="4843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0"/>
              </a:lnSpc>
              <a:spcBef>
                <a:spcPct val="0"/>
              </a:spcBef>
            </a:pPr>
            <a:r>
              <a:rPr lang="en-US" b="true" sz="2422" spc="356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ACURÁCIA</a:t>
            </a:r>
            <a:r>
              <a:rPr lang="en-US" b="true" sz="2422" spc="356">
                <a:solidFill>
                  <a:srgbClr val="211F1C"/>
                </a:solidFill>
                <a:latin typeface="Arimo Bold"/>
                <a:ea typeface="Arimo Bold"/>
                <a:cs typeface="Arimo Bold"/>
                <a:sym typeface="Arimo Bold"/>
              </a:rPr>
              <a:t>: ALCANÇAR UMA ACURÁCIA MÍNIMA DE </a:t>
            </a:r>
            <a:r>
              <a:rPr lang="en-US" b="true" sz="2422" spc="356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85%</a:t>
            </a:r>
            <a:r>
              <a:rPr lang="en-US" b="true" sz="2422" spc="356">
                <a:solidFill>
                  <a:srgbClr val="211F1C"/>
                </a:solidFill>
                <a:latin typeface="Arimo Bold"/>
                <a:ea typeface="Arimo Bold"/>
                <a:cs typeface="Arimo Bold"/>
                <a:sym typeface="Arimo Bold"/>
              </a:rPr>
              <a:t> NO CONJUNTO DE TESTE.</a:t>
            </a:r>
          </a:p>
          <a:p>
            <a:pPr algn="l">
              <a:lnSpc>
                <a:spcPts val="3560"/>
              </a:lnSpc>
              <a:spcBef>
                <a:spcPct val="0"/>
              </a:spcBef>
            </a:pPr>
          </a:p>
          <a:p>
            <a:pPr algn="l">
              <a:lnSpc>
                <a:spcPts val="3560"/>
              </a:lnSpc>
              <a:spcBef>
                <a:spcPct val="0"/>
              </a:spcBef>
            </a:pPr>
            <a:r>
              <a:rPr lang="en-US" b="true" sz="2422" spc="356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F1-SCORE</a:t>
            </a:r>
            <a:r>
              <a:rPr lang="en-US" b="true" sz="2422" spc="356">
                <a:solidFill>
                  <a:srgbClr val="211F1C"/>
                </a:solidFill>
                <a:latin typeface="Arimo Bold"/>
                <a:ea typeface="Arimo Bold"/>
                <a:cs typeface="Arimo Bold"/>
                <a:sym typeface="Arimo Bold"/>
              </a:rPr>
              <a:t>: OBTER UM F1-SCORE MÍNIMO DE </a:t>
            </a:r>
            <a:r>
              <a:rPr lang="en-US" b="true" sz="2422" spc="356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0.80</a:t>
            </a:r>
            <a:r>
              <a:rPr lang="en-US" b="true" sz="2422" spc="356">
                <a:solidFill>
                  <a:srgbClr val="211F1C"/>
                </a:solidFill>
                <a:latin typeface="Arimo Bold"/>
                <a:ea typeface="Arimo Bold"/>
                <a:cs typeface="Arimo Bold"/>
                <a:sym typeface="Arimo Bold"/>
              </a:rPr>
              <a:t>, GARANTINDO UM EQUILÍBRIO ENTRE PRECISÃO E RECALL.</a:t>
            </a:r>
          </a:p>
          <a:p>
            <a:pPr algn="l">
              <a:lnSpc>
                <a:spcPts val="3560"/>
              </a:lnSpc>
              <a:spcBef>
                <a:spcPct val="0"/>
              </a:spcBef>
            </a:pPr>
          </a:p>
          <a:p>
            <a:pPr algn="l">
              <a:lnSpc>
                <a:spcPts val="3560"/>
              </a:lnSpc>
              <a:spcBef>
                <a:spcPct val="0"/>
              </a:spcBef>
            </a:pPr>
            <a:r>
              <a:rPr lang="en-US" b="true" sz="2422" spc="356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CURVA ROC</a:t>
            </a:r>
            <a:r>
              <a:rPr lang="en-US" b="true" sz="2422" spc="356">
                <a:solidFill>
                  <a:srgbClr val="211F1C"/>
                </a:solidFill>
                <a:latin typeface="Arimo Bold"/>
                <a:ea typeface="Arimo Bold"/>
                <a:cs typeface="Arimo Bold"/>
                <a:sym typeface="Arimo Bold"/>
              </a:rPr>
              <a:t>: ATINGIR UMA ÁREA SOB A CURVA (AUC) ROC MÍNIMA DE </a:t>
            </a:r>
            <a:r>
              <a:rPr lang="en-US" b="true" sz="2422" spc="356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0.85</a:t>
            </a:r>
            <a:r>
              <a:rPr lang="en-US" b="true" sz="2422" spc="356">
                <a:solidFill>
                  <a:srgbClr val="211F1C"/>
                </a:solidFill>
                <a:latin typeface="Arimo Bold"/>
                <a:ea typeface="Arimo Bold"/>
                <a:cs typeface="Arimo Bold"/>
                <a:sym typeface="Arimo Bold"/>
              </a:rPr>
              <a:t>, INDICANDO UMA BOA SEPARAÇÃO ENTRE AS CLASSES.</a:t>
            </a:r>
          </a:p>
          <a:p>
            <a:pPr algn="l">
              <a:lnSpc>
                <a:spcPts val="3560"/>
              </a:lnSpc>
              <a:spcBef>
                <a:spcPct val="0"/>
              </a:spcBef>
            </a:pPr>
          </a:p>
          <a:p>
            <a:pPr algn="l">
              <a:lnSpc>
                <a:spcPts val="3560"/>
              </a:lnSpc>
              <a:spcBef>
                <a:spcPct val="0"/>
              </a:spcBef>
            </a:pPr>
            <a:r>
              <a:rPr lang="en-US" b="true" sz="2422" spc="356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RECALL</a:t>
            </a:r>
            <a:r>
              <a:rPr lang="en-US" b="true" sz="2422" spc="356">
                <a:solidFill>
                  <a:srgbClr val="211F1C"/>
                </a:solidFill>
                <a:latin typeface="Arimo Bold"/>
                <a:ea typeface="Arimo Bold"/>
                <a:cs typeface="Arimo Bold"/>
                <a:sym typeface="Arimo Bold"/>
              </a:rPr>
              <a:t>: OBTER UM RECALL MÍNIMO DE </a:t>
            </a:r>
            <a:r>
              <a:rPr lang="en-US" b="true" sz="2422" spc="356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0.80</a:t>
            </a:r>
            <a:r>
              <a:rPr lang="en-US" b="true" sz="2422" spc="356">
                <a:solidFill>
                  <a:srgbClr val="211F1C"/>
                </a:solidFill>
                <a:latin typeface="Arimo Bold"/>
                <a:ea typeface="Arimo Bold"/>
                <a:cs typeface="Arimo Bold"/>
                <a:sym typeface="Arimo Bold"/>
              </a:rPr>
              <a:t> PARA GARANTIR A IDENTIFICAÇÃO CORRETA DOS VERDADEIROS POSITIVOS.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515924" y="3836930"/>
            <a:ext cx="13256151" cy="2813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44"/>
              </a:lnSpc>
              <a:spcBef>
                <a:spcPct val="0"/>
              </a:spcBef>
            </a:pPr>
            <a:r>
              <a:rPr lang="en-US" sz="10736">
                <a:solidFill>
                  <a:srgbClr val="004AAD"/>
                </a:solidFill>
                <a:latin typeface="Anton"/>
                <a:ea typeface="Anton"/>
                <a:cs typeface="Anton"/>
                <a:sym typeface="Anton"/>
              </a:rPr>
              <a:t>SEGUNDA ETAPA: DATA UNDERSTANDING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>
            <a:off x="-1548845" y="5572629"/>
            <a:ext cx="21385690" cy="0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481989" y="4848959"/>
            <a:ext cx="0" cy="723670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744252" y="2042777"/>
            <a:ext cx="3475474" cy="2806182"/>
            <a:chOff x="0" y="0"/>
            <a:chExt cx="872834" cy="7047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2834" cy="704747"/>
            </a:xfrm>
            <a:custGeom>
              <a:avLst/>
              <a:gdLst/>
              <a:ahLst/>
              <a:cxnLst/>
              <a:rect r="r" b="b" t="t" l="l"/>
              <a:pathLst>
                <a:path h="704747" w="872834">
                  <a:moveTo>
                    <a:pt x="80193" y="0"/>
                  </a:moveTo>
                  <a:lnTo>
                    <a:pt x="792640" y="0"/>
                  </a:lnTo>
                  <a:cubicBezTo>
                    <a:pt x="836930" y="0"/>
                    <a:pt x="872834" y="35904"/>
                    <a:pt x="872834" y="80193"/>
                  </a:cubicBezTo>
                  <a:lnTo>
                    <a:pt x="872834" y="624554"/>
                  </a:lnTo>
                  <a:cubicBezTo>
                    <a:pt x="872834" y="668843"/>
                    <a:pt x="836930" y="704747"/>
                    <a:pt x="792640" y="704747"/>
                  </a:cubicBezTo>
                  <a:lnTo>
                    <a:pt x="80193" y="704747"/>
                  </a:lnTo>
                  <a:cubicBezTo>
                    <a:pt x="35904" y="704747"/>
                    <a:pt x="0" y="668843"/>
                    <a:pt x="0" y="624554"/>
                  </a:cubicBezTo>
                  <a:lnTo>
                    <a:pt x="0" y="80193"/>
                  </a:lnTo>
                  <a:cubicBezTo>
                    <a:pt x="0" y="35904"/>
                    <a:pt x="35904" y="0"/>
                    <a:pt x="80193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64958" y="3072177"/>
            <a:ext cx="2034061" cy="804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5"/>
              </a:lnSpc>
            </a:pPr>
            <a:r>
              <a:rPr lang="en-US" sz="3133" spc="313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COLETA DOS DADOS</a:t>
            </a:r>
          </a:p>
        </p:txBody>
      </p:sp>
      <p:sp>
        <p:nvSpPr>
          <p:cNvPr name="AutoShape 11" id="11"/>
          <p:cNvSpPr/>
          <p:nvPr/>
        </p:nvSpPr>
        <p:spPr>
          <a:xfrm flipH="true">
            <a:off x="6824527" y="4853954"/>
            <a:ext cx="0" cy="723670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5086790" y="2047772"/>
            <a:ext cx="3475474" cy="2806182"/>
            <a:chOff x="0" y="0"/>
            <a:chExt cx="872834" cy="7047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2834" cy="704747"/>
            </a:xfrm>
            <a:custGeom>
              <a:avLst/>
              <a:gdLst/>
              <a:ahLst/>
              <a:cxnLst/>
              <a:rect r="r" b="b" t="t" l="l"/>
              <a:pathLst>
                <a:path h="704747" w="872834">
                  <a:moveTo>
                    <a:pt x="80193" y="0"/>
                  </a:moveTo>
                  <a:lnTo>
                    <a:pt x="792640" y="0"/>
                  </a:lnTo>
                  <a:cubicBezTo>
                    <a:pt x="836930" y="0"/>
                    <a:pt x="872834" y="35904"/>
                    <a:pt x="872834" y="80193"/>
                  </a:cubicBezTo>
                  <a:lnTo>
                    <a:pt x="872834" y="624554"/>
                  </a:lnTo>
                  <a:cubicBezTo>
                    <a:pt x="872834" y="668843"/>
                    <a:pt x="836930" y="704747"/>
                    <a:pt x="792640" y="704747"/>
                  </a:cubicBezTo>
                  <a:lnTo>
                    <a:pt x="80193" y="704747"/>
                  </a:lnTo>
                  <a:cubicBezTo>
                    <a:pt x="35904" y="704747"/>
                    <a:pt x="0" y="668843"/>
                    <a:pt x="0" y="624554"/>
                  </a:cubicBezTo>
                  <a:lnTo>
                    <a:pt x="0" y="80193"/>
                  </a:lnTo>
                  <a:cubicBezTo>
                    <a:pt x="0" y="35904"/>
                    <a:pt x="35904" y="0"/>
                    <a:pt x="80193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1167065" y="4848959"/>
            <a:ext cx="0" cy="723670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429328" y="2042777"/>
            <a:ext cx="3475474" cy="2806182"/>
            <a:chOff x="0" y="0"/>
            <a:chExt cx="872834" cy="7047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2834" cy="704747"/>
            </a:xfrm>
            <a:custGeom>
              <a:avLst/>
              <a:gdLst/>
              <a:ahLst/>
              <a:cxnLst/>
              <a:rect r="r" b="b" t="t" l="l"/>
              <a:pathLst>
                <a:path h="704747" w="872834">
                  <a:moveTo>
                    <a:pt x="80193" y="0"/>
                  </a:moveTo>
                  <a:lnTo>
                    <a:pt x="792640" y="0"/>
                  </a:lnTo>
                  <a:cubicBezTo>
                    <a:pt x="836930" y="0"/>
                    <a:pt x="872834" y="35904"/>
                    <a:pt x="872834" y="80193"/>
                  </a:cubicBezTo>
                  <a:lnTo>
                    <a:pt x="872834" y="624554"/>
                  </a:lnTo>
                  <a:cubicBezTo>
                    <a:pt x="872834" y="668843"/>
                    <a:pt x="836930" y="704747"/>
                    <a:pt x="792640" y="704747"/>
                  </a:cubicBezTo>
                  <a:lnTo>
                    <a:pt x="80193" y="704747"/>
                  </a:lnTo>
                  <a:cubicBezTo>
                    <a:pt x="35904" y="704747"/>
                    <a:pt x="0" y="668843"/>
                    <a:pt x="0" y="624554"/>
                  </a:cubicBezTo>
                  <a:lnTo>
                    <a:pt x="0" y="80193"/>
                  </a:lnTo>
                  <a:cubicBezTo>
                    <a:pt x="0" y="35904"/>
                    <a:pt x="35904" y="0"/>
                    <a:pt x="80193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5509314" y="4848959"/>
            <a:ext cx="0" cy="723670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3771577" y="2042777"/>
            <a:ext cx="3475474" cy="2806182"/>
            <a:chOff x="0" y="0"/>
            <a:chExt cx="872834" cy="7047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2834" cy="704747"/>
            </a:xfrm>
            <a:custGeom>
              <a:avLst/>
              <a:gdLst/>
              <a:ahLst/>
              <a:cxnLst/>
              <a:rect r="r" b="b" t="t" l="l"/>
              <a:pathLst>
                <a:path h="704747" w="872834">
                  <a:moveTo>
                    <a:pt x="80193" y="0"/>
                  </a:moveTo>
                  <a:lnTo>
                    <a:pt x="792640" y="0"/>
                  </a:lnTo>
                  <a:cubicBezTo>
                    <a:pt x="836930" y="0"/>
                    <a:pt x="872834" y="35904"/>
                    <a:pt x="872834" y="80193"/>
                  </a:cubicBezTo>
                  <a:lnTo>
                    <a:pt x="872834" y="624554"/>
                  </a:lnTo>
                  <a:cubicBezTo>
                    <a:pt x="872834" y="668843"/>
                    <a:pt x="836930" y="704747"/>
                    <a:pt x="792640" y="704747"/>
                  </a:cubicBezTo>
                  <a:lnTo>
                    <a:pt x="80193" y="704747"/>
                  </a:lnTo>
                  <a:cubicBezTo>
                    <a:pt x="35904" y="704747"/>
                    <a:pt x="0" y="668843"/>
                    <a:pt x="0" y="624554"/>
                  </a:cubicBezTo>
                  <a:lnTo>
                    <a:pt x="0" y="80193"/>
                  </a:lnTo>
                  <a:cubicBezTo>
                    <a:pt x="0" y="35904"/>
                    <a:pt x="35904" y="0"/>
                    <a:pt x="80193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161209" y="839676"/>
            <a:ext cx="5965581" cy="65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80"/>
              </a:lnSpc>
              <a:spcBef>
                <a:spcPct val="0"/>
              </a:spcBef>
            </a:pPr>
            <a:r>
              <a:rPr lang="en-US" sz="4831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RESUMO DO QUE FOI FEITO: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258059" y="6275750"/>
            <a:ext cx="3475474" cy="2806182"/>
            <a:chOff x="0" y="0"/>
            <a:chExt cx="872834" cy="7047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2834" cy="704747"/>
            </a:xfrm>
            <a:custGeom>
              <a:avLst/>
              <a:gdLst/>
              <a:ahLst/>
              <a:cxnLst/>
              <a:rect r="r" b="b" t="t" l="l"/>
              <a:pathLst>
                <a:path h="704747" w="872834">
                  <a:moveTo>
                    <a:pt x="80193" y="0"/>
                  </a:moveTo>
                  <a:lnTo>
                    <a:pt x="792640" y="0"/>
                  </a:lnTo>
                  <a:cubicBezTo>
                    <a:pt x="836930" y="0"/>
                    <a:pt x="872834" y="35904"/>
                    <a:pt x="872834" y="80193"/>
                  </a:cubicBezTo>
                  <a:lnTo>
                    <a:pt x="872834" y="624554"/>
                  </a:lnTo>
                  <a:cubicBezTo>
                    <a:pt x="872834" y="668843"/>
                    <a:pt x="836930" y="704747"/>
                    <a:pt x="792640" y="704747"/>
                  </a:cubicBezTo>
                  <a:lnTo>
                    <a:pt x="80193" y="704747"/>
                  </a:lnTo>
                  <a:cubicBezTo>
                    <a:pt x="35904" y="704747"/>
                    <a:pt x="0" y="668843"/>
                    <a:pt x="0" y="624554"/>
                  </a:cubicBezTo>
                  <a:lnTo>
                    <a:pt x="0" y="80193"/>
                  </a:lnTo>
                  <a:cubicBezTo>
                    <a:pt x="0" y="35904"/>
                    <a:pt x="35904" y="0"/>
                    <a:pt x="80193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9005321" y="5572629"/>
            <a:ext cx="0" cy="723670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5512035" y="2684023"/>
            <a:ext cx="2621893" cy="158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0"/>
              </a:lnSpc>
            </a:pPr>
            <a:r>
              <a:rPr lang="en-US" sz="3133" spc="313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ANÁLISE DESCRITIVA DOS DADOS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57664" y="2976603"/>
            <a:ext cx="2621893" cy="94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2"/>
              </a:lnSpc>
            </a:pPr>
            <a:r>
              <a:rPr lang="en-US" sz="3133" spc="313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EXPLORAÇÃO DOS DADOS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200202" y="2428558"/>
            <a:ext cx="2621893" cy="201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1"/>
              </a:lnSpc>
            </a:pPr>
            <a:r>
              <a:rPr lang="en-US" sz="3133" spc="313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ANÁLISE CRÍTICA DA QUALIDADE DOS DADOS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413582" y="6701055"/>
            <a:ext cx="3183479" cy="201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2"/>
              </a:lnSpc>
            </a:pPr>
            <a:r>
              <a:rPr lang="en-US" sz="3133" spc="313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PROPOSTAS DE LIMPEZA E TRANSFORMAÇÃO DOS DADOS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706326" y="746275"/>
            <a:ext cx="8875349" cy="65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80"/>
              </a:lnSpc>
              <a:spcBef>
                <a:spcPct val="0"/>
              </a:spcBef>
            </a:pPr>
            <a:r>
              <a:rPr lang="en-US" sz="4831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PRINCIPAIS DESCOBERTAS NESSA ETAPA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523622" y="4072767"/>
            <a:ext cx="9240757" cy="1070733"/>
            <a:chOff x="0" y="0"/>
            <a:chExt cx="2407097" cy="2789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7097" cy="278912"/>
            </a:xfrm>
            <a:custGeom>
              <a:avLst/>
              <a:gdLst/>
              <a:ahLst/>
              <a:cxnLst/>
              <a:rect r="r" b="b" t="t" l="l"/>
              <a:pathLst>
                <a:path h="278912" w="2407097">
                  <a:moveTo>
                    <a:pt x="30161" y="0"/>
                  </a:moveTo>
                  <a:lnTo>
                    <a:pt x="2376936" y="0"/>
                  </a:lnTo>
                  <a:cubicBezTo>
                    <a:pt x="2384935" y="0"/>
                    <a:pt x="2392607" y="3178"/>
                    <a:pt x="2398263" y="8834"/>
                  </a:cubicBezTo>
                  <a:cubicBezTo>
                    <a:pt x="2403919" y="14490"/>
                    <a:pt x="2407097" y="22162"/>
                    <a:pt x="2407097" y="30161"/>
                  </a:cubicBezTo>
                  <a:lnTo>
                    <a:pt x="2407097" y="248751"/>
                  </a:lnTo>
                  <a:cubicBezTo>
                    <a:pt x="2407097" y="265409"/>
                    <a:pt x="2393593" y="278912"/>
                    <a:pt x="2376936" y="278912"/>
                  </a:cubicBezTo>
                  <a:lnTo>
                    <a:pt x="30161" y="278912"/>
                  </a:lnTo>
                  <a:cubicBezTo>
                    <a:pt x="13503" y="278912"/>
                    <a:pt x="0" y="265409"/>
                    <a:pt x="0" y="248751"/>
                  </a:cubicBezTo>
                  <a:lnTo>
                    <a:pt x="0" y="30161"/>
                  </a:lnTo>
                  <a:cubicBezTo>
                    <a:pt x="0" y="13503"/>
                    <a:pt x="13503" y="0"/>
                    <a:pt x="30161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07097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PRESENÇA DE OUTLIERS (2% DA BASE)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523622" y="2361638"/>
            <a:ext cx="9240757" cy="1070733"/>
            <a:chOff x="0" y="0"/>
            <a:chExt cx="2407097" cy="2789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07097" cy="278912"/>
            </a:xfrm>
            <a:custGeom>
              <a:avLst/>
              <a:gdLst/>
              <a:ahLst/>
              <a:cxnLst/>
              <a:rect r="r" b="b" t="t" l="l"/>
              <a:pathLst>
                <a:path h="278912" w="2407097">
                  <a:moveTo>
                    <a:pt x="30161" y="0"/>
                  </a:moveTo>
                  <a:lnTo>
                    <a:pt x="2376936" y="0"/>
                  </a:lnTo>
                  <a:cubicBezTo>
                    <a:pt x="2384935" y="0"/>
                    <a:pt x="2392607" y="3178"/>
                    <a:pt x="2398263" y="8834"/>
                  </a:cubicBezTo>
                  <a:cubicBezTo>
                    <a:pt x="2403919" y="14490"/>
                    <a:pt x="2407097" y="22162"/>
                    <a:pt x="2407097" y="30161"/>
                  </a:cubicBezTo>
                  <a:lnTo>
                    <a:pt x="2407097" y="248751"/>
                  </a:lnTo>
                  <a:cubicBezTo>
                    <a:pt x="2407097" y="265409"/>
                    <a:pt x="2393593" y="278912"/>
                    <a:pt x="2376936" y="278912"/>
                  </a:cubicBezTo>
                  <a:lnTo>
                    <a:pt x="30161" y="278912"/>
                  </a:lnTo>
                  <a:cubicBezTo>
                    <a:pt x="13503" y="278912"/>
                    <a:pt x="0" y="265409"/>
                    <a:pt x="0" y="248751"/>
                  </a:cubicBezTo>
                  <a:lnTo>
                    <a:pt x="0" y="30161"/>
                  </a:lnTo>
                  <a:cubicBezTo>
                    <a:pt x="0" y="13503"/>
                    <a:pt x="13503" y="0"/>
                    <a:pt x="30161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07097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DESBALANÇO NA VARIÁVEL ALVO: O POSITIVO LIDERA COM 66% DO TOTAL E A RESPOSTA NEGATIVA APENAS 33%.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523622" y="5571465"/>
            <a:ext cx="9058053" cy="1070733"/>
            <a:chOff x="0" y="0"/>
            <a:chExt cx="2359505" cy="2789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59505" cy="278912"/>
            </a:xfrm>
            <a:custGeom>
              <a:avLst/>
              <a:gdLst/>
              <a:ahLst/>
              <a:cxnLst/>
              <a:rect r="r" b="b" t="t" l="l"/>
              <a:pathLst>
                <a:path h="278912" w="2359505">
                  <a:moveTo>
                    <a:pt x="30769" y="0"/>
                  </a:moveTo>
                  <a:lnTo>
                    <a:pt x="2328736" y="0"/>
                  </a:lnTo>
                  <a:cubicBezTo>
                    <a:pt x="2336896" y="0"/>
                    <a:pt x="2344723" y="3242"/>
                    <a:pt x="2350493" y="9012"/>
                  </a:cubicBezTo>
                  <a:cubicBezTo>
                    <a:pt x="2356263" y="14782"/>
                    <a:pt x="2359505" y="22609"/>
                    <a:pt x="2359505" y="30769"/>
                  </a:cubicBezTo>
                  <a:lnTo>
                    <a:pt x="2359505" y="248143"/>
                  </a:lnTo>
                  <a:cubicBezTo>
                    <a:pt x="2359505" y="256303"/>
                    <a:pt x="2356263" y="264130"/>
                    <a:pt x="2350493" y="269900"/>
                  </a:cubicBezTo>
                  <a:cubicBezTo>
                    <a:pt x="2344723" y="275670"/>
                    <a:pt x="2336896" y="278912"/>
                    <a:pt x="2328736" y="278912"/>
                  </a:cubicBezTo>
                  <a:lnTo>
                    <a:pt x="30769" y="278912"/>
                  </a:lnTo>
                  <a:cubicBezTo>
                    <a:pt x="22609" y="278912"/>
                    <a:pt x="14782" y="275670"/>
                    <a:pt x="9012" y="269900"/>
                  </a:cubicBezTo>
                  <a:cubicBezTo>
                    <a:pt x="3242" y="264130"/>
                    <a:pt x="0" y="256303"/>
                    <a:pt x="0" y="248143"/>
                  </a:cubicBezTo>
                  <a:lnTo>
                    <a:pt x="0" y="30769"/>
                  </a:lnTo>
                  <a:cubicBezTo>
                    <a:pt x="0" y="22609"/>
                    <a:pt x="3242" y="14782"/>
                    <a:pt x="9012" y="9012"/>
                  </a:cubicBezTo>
                  <a:cubicBezTo>
                    <a:pt x="14782" y="3242"/>
                    <a:pt x="22609" y="0"/>
                    <a:pt x="30769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359505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PRESENÇA DE 22 VARIÁVEIS COM VALOR CONSTANTE (0 OU 100)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523622" y="7280373"/>
            <a:ext cx="9058053" cy="1070733"/>
            <a:chOff x="0" y="0"/>
            <a:chExt cx="2359505" cy="2789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59505" cy="278912"/>
            </a:xfrm>
            <a:custGeom>
              <a:avLst/>
              <a:gdLst/>
              <a:ahLst/>
              <a:cxnLst/>
              <a:rect r="r" b="b" t="t" l="l"/>
              <a:pathLst>
                <a:path h="278912" w="2359505">
                  <a:moveTo>
                    <a:pt x="30769" y="0"/>
                  </a:moveTo>
                  <a:lnTo>
                    <a:pt x="2328736" y="0"/>
                  </a:lnTo>
                  <a:cubicBezTo>
                    <a:pt x="2336896" y="0"/>
                    <a:pt x="2344723" y="3242"/>
                    <a:pt x="2350493" y="9012"/>
                  </a:cubicBezTo>
                  <a:cubicBezTo>
                    <a:pt x="2356263" y="14782"/>
                    <a:pt x="2359505" y="22609"/>
                    <a:pt x="2359505" y="30769"/>
                  </a:cubicBezTo>
                  <a:lnTo>
                    <a:pt x="2359505" y="248143"/>
                  </a:lnTo>
                  <a:cubicBezTo>
                    <a:pt x="2359505" y="256303"/>
                    <a:pt x="2356263" y="264130"/>
                    <a:pt x="2350493" y="269900"/>
                  </a:cubicBezTo>
                  <a:cubicBezTo>
                    <a:pt x="2344723" y="275670"/>
                    <a:pt x="2336896" y="278912"/>
                    <a:pt x="2328736" y="278912"/>
                  </a:cubicBezTo>
                  <a:lnTo>
                    <a:pt x="30769" y="278912"/>
                  </a:lnTo>
                  <a:cubicBezTo>
                    <a:pt x="22609" y="278912"/>
                    <a:pt x="14782" y="275670"/>
                    <a:pt x="9012" y="269900"/>
                  </a:cubicBezTo>
                  <a:cubicBezTo>
                    <a:pt x="3242" y="264130"/>
                    <a:pt x="0" y="256303"/>
                    <a:pt x="0" y="248143"/>
                  </a:cubicBezTo>
                  <a:lnTo>
                    <a:pt x="0" y="30769"/>
                  </a:lnTo>
                  <a:cubicBezTo>
                    <a:pt x="0" y="22609"/>
                    <a:pt x="3242" y="14782"/>
                    <a:pt x="9012" y="9012"/>
                  </a:cubicBezTo>
                  <a:cubicBezTo>
                    <a:pt x="14782" y="3242"/>
                    <a:pt x="22609" y="0"/>
                    <a:pt x="30769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359505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TODAS AS COLUNAS SÃO NUMÉRICAS E POSSUEM UMA </a:t>
              </a:r>
            </a:p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GRANDE VARIABILIDADE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515924" y="3836930"/>
            <a:ext cx="13256151" cy="2813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44"/>
              </a:lnSpc>
              <a:spcBef>
                <a:spcPct val="0"/>
              </a:spcBef>
            </a:pPr>
            <a:r>
              <a:rPr lang="en-US" sz="10736">
                <a:solidFill>
                  <a:srgbClr val="004AAD"/>
                </a:solidFill>
                <a:latin typeface="Anton"/>
                <a:ea typeface="Anton"/>
                <a:cs typeface="Anton"/>
                <a:sym typeface="Anton"/>
              </a:rPr>
              <a:t>TERCEIRA ETAPA: DATA PREPARATION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>
            <a:off x="-1548845" y="5572629"/>
            <a:ext cx="21385690" cy="0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481989" y="4848959"/>
            <a:ext cx="0" cy="723670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744252" y="2042777"/>
            <a:ext cx="3475474" cy="2806182"/>
            <a:chOff x="0" y="0"/>
            <a:chExt cx="872834" cy="7047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2834" cy="704747"/>
            </a:xfrm>
            <a:custGeom>
              <a:avLst/>
              <a:gdLst/>
              <a:ahLst/>
              <a:cxnLst/>
              <a:rect r="r" b="b" t="t" l="l"/>
              <a:pathLst>
                <a:path h="704747" w="872834">
                  <a:moveTo>
                    <a:pt x="80193" y="0"/>
                  </a:moveTo>
                  <a:lnTo>
                    <a:pt x="792640" y="0"/>
                  </a:lnTo>
                  <a:cubicBezTo>
                    <a:pt x="836930" y="0"/>
                    <a:pt x="872834" y="35904"/>
                    <a:pt x="872834" y="80193"/>
                  </a:cubicBezTo>
                  <a:lnTo>
                    <a:pt x="872834" y="624554"/>
                  </a:lnTo>
                  <a:cubicBezTo>
                    <a:pt x="872834" y="668843"/>
                    <a:pt x="836930" y="704747"/>
                    <a:pt x="792640" y="704747"/>
                  </a:cubicBezTo>
                  <a:lnTo>
                    <a:pt x="80193" y="704747"/>
                  </a:lnTo>
                  <a:cubicBezTo>
                    <a:pt x="35904" y="704747"/>
                    <a:pt x="0" y="668843"/>
                    <a:pt x="0" y="624554"/>
                  </a:cubicBezTo>
                  <a:lnTo>
                    <a:pt x="0" y="80193"/>
                  </a:lnTo>
                  <a:cubicBezTo>
                    <a:pt x="0" y="35904"/>
                    <a:pt x="35904" y="0"/>
                    <a:pt x="80193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71042" y="3019690"/>
            <a:ext cx="2621893" cy="85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3"/>
              </a:lnSpc>
            </a:pPr>
            <a:r>
              <a:rPr lang="en-US" sz="3133" spc="313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TRATAMENTO DE OUTLIERS</a:t>
            </a:r>
          </a:p>
        </p:txBody>
      </p:sp>
      <p:sp>
        <p:nvSpPr>
          <p:cNvPr name="AutoShape 11" id="11"/>
          <p:cNvSpPr/>
          <p:nvPr/>
        </p:nvSpPr>
        <p:spPr>
          <a:xfrm flipH="true">
            <a:off x="6824527" y="4853954"/>
            <a:ext cx="0" cy="723670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5086790" y="2047772"/>
            <a:ext cx="3475474" cy="2806182"/>
            <a:chOff x="0" y="0"/>
            <a:chExt cx="872834" cy="7047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2834" cy="704747"/>
            </a:xfrm>
            <a:custGeom>
              <a:avLst/>
              <a:gdLst/>
              <a:ahLst/>
              <a:cxnLst/>
              <a:rect r="r" b="b" t="t" l="l"/>
              <a:pathLst>
                <a:path h="704747" w="872834">
                  <a:moveTo>
                    <a:pt x="80193" y="0"/>
                  </a:moveTo>
                  <a:lnTo>
                    <a:pt x="792640" y="0"/>
                  </a:lnTo>
                  <a:cubicBezTo>
                    <a:pt x="836930" y="0"/>
                    <a:pt x="872834" y="35904"/>
                    <a:pt x="872834" y="80193"/>
                  </a:cubicBezTo>
                  <a:lnTo>
                    <a:pt x="872834" y="624554"/>
                  </a:lnTo>
                  <a:cubicBezTo>
                    <a:pt x="872834" y="668843"/>
                    <a:pt x="836930" y="704747"/>
                    <a:pt x="792640" y="704747"/>
                  </a:cubicBezTo>
                  <a:lnTo>
                    <a:pt x="80193" y="704747"/>
                  </a:lnTo>
                  <a:cubicBezTo>
                    <a:pt x="35904" y="704747"/>
                    <a:pt x="0" y="668843"/>
                    <a:pt x="0" y="624554"/>
                  </a:cubicBezTo>
                  <a:lnTo>
                    <a:pt x="0" y="80193"/>
                  </a:lnTo>
                  <a:cubicBezTo>
                    <a:pt x="0" y="35904"/>
                    <a:pt x="35904" y="0"/>
                    <a:pt x="80193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1167065" y="4848959"/>
            <a:ext cx="0" cy="723670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429328" y="2042777"/>
            <a:ext cx="3475474" cy="2806182"/>
            <a:chOff x="0" y="0"/>
            <a:chExt cx="872834" cy="7047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2834" cy="704747"/>
            </a:xfrm>
            <a:custGeom>
              <a:avLst/>
              <a:gdLst/>
              <a:ahLst/>
              <a:cxnLst/>
              <a:rect r="r" b="b" t="t" l="l"/>
              <a:pathLst>
                <a:path h="704747" w="872834">
                  <a:moveTo>
                    <a:pt x="80193" y="0"/>
                  </a:moveTo>
                  <a:lnTo>
                    <a:pt x="792640" y="0"/>
                  </a:lnTo>
                  <a:cubicBezTo>
                    <a:pt x="836930" y="0"/>
                    <a:pt x="872834" y="35904"/>
                    <a:pt x="872834" y="80193"/>
                  </a:cubicBezTo>
                  <a:lnTo>
                    <a:pt x="872834" y="624554"/>
                  </a:lnTo>
                  <a:cubicBezTo>
                    <a:pt x="872834" y="668843"/>
                    <a:pt x="836930" y="704747"/>
                    <a:pt x="792640" y="704747"/>
                  </a:cubicBezTo>
                  <a:lnTo>
                    <a:pt x="80193" y="704747"/>
                  </a:lnTo>
                  <a:cubicBezTo>
                    <a:pt x="35904" y="704747"/>
                    <a:pt x="0" y="668843"/>
                    <a:pt x="0" y="624554"/>
                  </a:cubicBezTo>
                  <a:lnTo>
                    <a:pt x="0" y="80193"/>
                  </a:lnTo>
                  <a:cubicBezTo>
                    <a:pt x="0" y="35904"/>
                    <a:pt x="35904" y="0"/>
                    <a:pt x="80193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5509314" y="4848959"/>
            <a:ext cx="0" cy="723670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3771577" y="2042777"/>
            <a:ext cx="3475474" cy="2806182"/>
            <a:chOff x="0" y="0"/>
            <a:chExt cx="872834" cy="7047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2834" cy="704747"/>
            </a:xfrm>
            <a:custGeom>
              <a:avLst/>
              <a:gdLst/>
              <a:ahLst/>
              <a:cxnLst/>
              <a:rect r="r" b="b" t="t" l="l"/>
              <a:pathLst>
                <a:path h="704747" w="872834">
                  <a:moveTo>
                    <a:pt x="80193" y="0"/>
                  </a:moveTo>
                  <a:lnTo>
                    <a:pt x="792640" y="0"/>
                  </a:lnTo>
                  <a:cubicBezTo>
                    <a:pt x="836930" y="0"/>
                    <a:pt x="872834" y="35904"/>
                    <a:pt x="872834" y="80193"/>
                  </a:cubicBezTo>
                  <a:lnTo>
                    <a:pt x="872834" y="624554"/>
                  </a:lnTo>
                  <a:cubicBezTo>
                    <a:pt x="872834" y="668843"/>
                    <a:pt x="836930" y="704747"/>
                    <a:pt x="792640" y="704747"/>
                  </a:cubicBezTo>
                  <a:lnTo>
                    <a:pt x="80193" y="704747"/>
                  </a:lnTo>
                  <a:cubicBezTo>
                    <a:pt x="35904" y="704747"/>
                    <a:pt x="0" y="668843"/>
                    <a:pt x="0" y="624554"/>
                  </a:cubicBezTo>
                  <a:lnTo>
                    <a:pt x="0" y="80193"/>
                  </a:lnTo>
                  <a:cubicBezTo>
                    <a:pt x="0" y="35904"/>
                    <a:pt x="35904" y="0"/>
                    <a:pt x="80193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161209" y="839676"/>
            <a:ext cx="5965581" cy="65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80"/>
              </a:lnSpc>
              <a:spcBef>
                <a:spcPct val="0"/>
              </a:spcBef>
            </a:pPr>
            <a:r>
              <a:rPr lang="en-US" sz="4831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RESUMO DO QUE FOI FEITO: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205672" y="6280745"/>
            <a:ext cx="3475474" cy="2806182"/>
            <a:chOff x="0" y="0"/>
            <a:chExt cx="872834" cy="7047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2834" cy="704747"/>
            </a:xfrm>
            <a:custGeom>
              <a:avLst/>
              <a:gdLst/>
              <a:ahLst/>
              <a:cxnLst/>
              <a:rect r="r" b="b" t="t" l="l"/>
              <a:pathLst>
                <a:path h="704747" w="872834">
                  <a:moveTo>
                    <a:pt x="80193" y="0"/>
                  </a:moveTo>
                  <a:lnTo>
                    <a:pt x="792640" y="0"/>
                  </a:lnTo>
                  <a:cubicBezTo>
                    <a:pt x="836930" y="0"/>
                    <a:pt x="872834" y="35904"/>
                    <a:pt x="872834" y="80193"/>
                  </a:cubicBezTo>
                  <a:lnTo>
                    <a:pt x="872834" y="624554"/>
                  </a:lnTo>
                  <a:cubicBezTo>
                    <a:pt x="872834" y="668843"/>
                    <a:pt x="836930" y="704747"/>
                    <a:pt x="792640" y="704747"/>
                  </a:cubicBezTo>
                  <a:lnTo>
                    <a:pt x="80193" y="704747"/>
                  </a:lnTo>
                  <a:cubicBezTo>
                    <a:pt x="35904" y="704747"/>
                    <a:pt x="0" y="668843"/>
                    <a:pt x="0" y="624554"/>
                  </a:cubicBezTo>
                  <a:lnTo>
                    <a:pt x="0" y="80193"/>
                  </a:lnTo>
                  <a:cubicBezTo>
                    <a:pt x="0" y="35904"/>
                    <a:pt x="35904" y="0"/>
                    <a:pt x="80193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8952934" y="5577624"/>
            <a:ext cx="0" cy="723670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1643315" y="6275750"/>
            <a:ext cx="3475474" cy="2806182"/>
            <a:chOff x="0" y="0"/>
            <a:chExt cx="872834" cy="70474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72834" cy="704747"/>
            </a:xfrm>
            <a:custGeom>
              <a:avLst/>
              <a:gdLst/>
              <a:ahLst/>
              <a:cxnLst/>
              <a:rect r="r" b="b" t="t" l="l"/>
              <a:pathLst>
                <a:path h="704747" w="872834">
                  <a:moveTo>
                    <a:pt x="80193" y="0"/>
                  </a:moveTo>
                  <a:lnTo>
                    <a:pt x="792640" y="0"/>
                  </a:lnTo>
                  <a:cubicBezTo>
                    <a:pt x="836930" y="0"/>
                    <a:pt x="872834" y="35904"/>
                    <a:pt x="872834" y="80193"/>
                  </a:cubicBezTo>
                  <a:lnTo>
                    <a:pt x="872834" y="624554"/>
                  </a:lnTo>
                  <a:cubicBezTo>
                    <a:pt x="872834" y="668843"/>
                    <a:pt x="836930" y="704747"/>
                    <a:pt x="792640" y="704747"/>
                  </a:cubicBezTo>
                  <a:lnTo>
                    <a:pt x="80193" y="704747"/>
                  </a:lnTo>
                  <a:cubicBezTo>
                    <a:pt x="35904" y="704747"/>
                    <a:pt x="0" y="668843"/>
                    <a:pt x="0" y="624554"/>
                  </a:cubicBezTo>
                  <a:lnTo>
                    <a:pt x="0" y="80193"/>
                  </a:lnTo>
                  <a:cubicBezTo>
                    <a:pt x="0" y="35904"/>
                    <a:pt x="35904" y="0"/>
                    <a:pt x="80193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3390577" y="5572629"/>
            <a:ext cx="0" cy="723670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2768028" y="6238217"/>
            <a:ext cx="3475474" cy="2806182"/>
            <a:chOff x="0" y="0"/>
            <a:chExt cx="872834" cy="7047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2834" cy="704747"/>
            </a:xfrm>
            <a:custGeom>
              <a:avLst/>
              <a:gdLst/>
              <a:ahLst/>
              <a:cxnLst/>
              <a:rect r="r" b="b" t="t" l="l"/>
              <a:pathLst>
                <a:path h="704747" w="872834">
                  <a:moveTo>
                    <a:pt x="80193" y="0"/>
                  </a:moveTo>
                  <a:lnTo>
                    <a:pt x="792640" y="0"/>
                  </a:lnTo>
                  <a:cubicBezTo>
                    <a:pt x="836930" y="0"/>
                    <a:pt x="872834" y="35904"/>
                    <a:pt x="872834" y="80193"/>
                  </a:cubicBezTo>
                  <a:lnTo>
                    <a:pt x="872834" y="624554"/>
                  </a:lnTo>
                  <a:cubicBezTo>
                    <a:pt x="872834" y="668843"/>
                    <a:pt x="836930" y="704747"/>
                    <a:pt x="792640" y="704747"/>
                  </a:cubicBezTo>
                  <a:lnTo>
                    <a:pt x="80193" y="704747"/>
                  </a:lnTo>
                  <a:cubicBezTo>
                    <a:pt x="35904" y="704747"/>
                    <a:pt x="0" y="668843"/>
                    <a:pt x="0" y="624554"/>
                  </a:cubicBezTo>
                  <a:lnTo>
                    <a:pt x="0" y="80193"/>
                  </a:lnTo>
                  <a:cubicBezTo>
                    <a:pt x="0" y="35904"/>
                    <a:pt x="35904" y="0"/>
                    <a:pt x="80193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AutoShape 35" id="35"/>
          <p:cNvSpPr/>
          <p:nvPr/>
        </p:nvSpPr>
        <p:spPr>
          <a:xfrm>
            <a:off x="4515290" y="5535096"/>
            <a:ext cx="0" cy="723670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5513580" y="2875662"/>
            <a:ext cx="2621893" cy="1197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5"/>
              </a:lnSpc>
            </a:pPr>
            <a:r>
              <a:rPr lang="en-US" sz="3133" spc="313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TRATAMENTO DE VALORES AUSENTES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57664" y="2736488"/>
            <a:ext cx="2621893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0"/>
              </a:lnSpc>
            </a:pPr>
            <a:r>
              <a:rPr lang="en-US" sz="3133" spc="313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REMOÇÃO DE COLUNAS CONSTANTES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198368" y="2828037"/>
            <a:ext cx="2621893" cy="139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8"/>
              </a:lnSpc>
            </a:pPr>
            <a:r>
              <a:rPr lang="en-US" sz="3133" spc="313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REMOÇÃO DE LINHAS DUPLICADAS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060168" y="7262520"/>
            <a:ext cx="2891195" cy="92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5"/>
              </a:lnSpc>
            </a:pPr>
            <a:r>
              <a:rPr lang="en-US" sz="3133" spc="313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NORMALIZAÇÃO DOS DADOS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351741" y="7300620"/>
            <a:ext cx="3183334" cy="116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3033" spc="303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BALANCEAMENTO DA VARIÁVEL ALVO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944980" y="7310145"/>
            <a:ext cx="2891195" cy="804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5"/>
              </a:lnSpc>
            </a:pPr>
            <a:r>
              <a:rPr lang="en-US" sz="3133" spc="313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SELEÇÃO DE FEATURES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99934" y="2386723"/>
            <a:ext cx="7719932" cy="6003192"/>
          </a:xfrm>
          <a:custGeom>
            <a:avLst/>
            <a:gdLst/>
            <a:ahLst/>
            <a:cxnLst/>
            <a:rect r="r" b="b" t="t" l="l"/>
            <a:pathLst>
              <a:path h="6003192" w="7719932">
                <a:moveTo>
                  <a:pt x="0" y="0"/>
                </a:moveTo>
                <a:lnTo>
                  <a:pt x="7719932" y="0"/>
                </a:lnTo>
                <a:lnTo>
                  <a:pt x="7719932" y="6003192"/>
                </a:lnTo>
                <a:lnTo>
                  <a:pt x="0" y="60031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65854" y="2462712"/>
            <a:ext cx="7622212" cy="5927203"/>
          </a:xfrm>
          <a:custGeom>
            <a:avLst/>
            <a:gdLst/>
            <a:ahLst/>
            <a:cxnLst/>
            <a:rect r="r" b="b" t="t" l="l"/>
            <a:pathLst>
              <a:path h="5927203" w="7622212">
                <a:moveTo>
                  <a:pt x="0" y="0"/>
                </a:moveTo>
                <a:lnTo>
                  <a:pt x="7622212" y="0"/>
                </a:lnTo>
                <a:lnTo>
                  <a:pt x="7622212" y="5927203"/>
                </a:lnTo>
                <a:lnTo>
                  <a:pt x="0" y="59272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65916" y="1028700"/>
            <a:ext cx="8595036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8"/>
              </a:lnSpc>
            </a:pPr>
            <a:r>
              <a:rPr lang="en-US" sz="3257" spc="162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RESULTADO DO BALANCEAMENTO DA VARIÁVEL ALVO USANDO A TÉCNICA DE OVERSAMPLING: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515924" y="3836930"/>
            <a:ext cx="13256151" cy="2813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4"/>
              </a:lnSpc>
            </a:pPr>
            <a:r>
              <a:rPr lang="en-US" sz="10736">
                <a:solidFill>
                  <a:srgbClr val="004AAD"/>
                </a:solidFill>
                <a:latin typeface="Anton"/>
                <a:ea typeface="Anton"/>
                <a:cs typeface="Anton"/>
                <a:sym typeface="Anton"/>
              </a:rPr>
              <a:t>QUARTA ETAPA: </a:t>
            </a:r>
          </a:p>
          <a:p>
            <a:pPr algn="ctr" marL="0" indent="0" lvl="0">
              <a:lnSpc>
                <a:spcPts val="10844"/>
              </a:lnSpc>
              <a:spcBef>
                <a:spcPct val="0"/>
              </a:spcBef>
            </a:pPr>
            <a:r>
              <a:rPr lang="en-US" sz="10736">
                <a:solidFill>
                  <a:srgbClr val="004AAD"/>
                </a:solidFill>
                <a:latin typeface="Anton"/>
                <a:ea typeface="Anton"/>
                <a:cs typeface="Anton"/>
                <a:sym typeface="Anton"/>
              </a:rPr>
              <a:t>MODELING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817238"/>
            <a:ext cx="5965581" cy="65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80"/>
              </a:lnSpc>
              <a:spcBef>
                <a:spcPct val="0"/>
              </a:spcBef>
            </a:pPr>
            <a:r>
              <a:rPr lang="en-US" sz="4831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RESUMO DO QUE FOI FEITO:</a:t>
            </a:r>
          </a:p>
        </p:txBody>
      </p:sp>
      <p:sp>
        <p:nvSpPr>
          <p:cNvPr name="AutoShape 6" id="6"/>
          <p:cNvSpPr/>
          <p:nvPr/>
        </p:nvSpPr>
        <p:spPr>
          <a:xfrm>
            <a:off x="-2626987" y="7080883"/>
            <a:ext cx="23541974" cy="0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>
            <a:off x="2732346" y="6295242"/>
            <a:ext cx="0" cy="796637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19396" y="3206117"/>
            <a:ext cx="3825900" cy="3089124"/>
            <a:chOff x="0" y="0"/>
            <a:chExt cx="872834" cy="7047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2834" cy="704747"/>
            </a:xfrm>
            <a:custGeom>
              <a:avLst/>
              <a:gdLst/>
              <a:ahLst/>
              <a:cxnLst/>
              <a:rect r="r" b="b" t="t" l="l"/>
              <a:pathLst>
                <a:path h="704747" w="872834">
                  <a:moveTo>
                    <a:pt x="72848" y="0"/>
                  </a:moveTo>
                  <a:lnTo>
                    <a:pt x="799986" y="0"/>
                  </a:lnTo>
                  <a:cubicBezTo>
                    <a:pt x="819306" y="0"/>
                    <a:pt x="837835" y="7675"/>
                    <a:pt x="851497" y="21337"/>
                  </a:cubicBezTo>
                  <a:cubicBezTo>
                    <a:pt x="865159" y="34998"/>
                    <a:pt x="872834" y="53527"/>
                    <a:pt x="872834" y="72848"/>
                  </a:cubicBezTo>
                  <a:lnTo>
                    <a:pt x="872834" y="631899"/>
                  </a:lnTo>
                  <a:cubicBezTo>
                    <a:pt x="872834" y="651219"/>
                    <a:pt x="865159" y="669749"/>
                    <a:pt x="851497" y="683410"/>
                  </a:cubicBezTo>
                  <a:cubicBezTo>
                    <a:pt x="837835" y="697072"/>
                    <a:pt x="819306" y="704747"/>
                    <a:pt x="799986" y="704747"/>
                  </a:cubicBezTo>
                  <a:lnTo>
                    <a:pt x="72848" y="704747"/>
                  </a:lnTo>
                  <a:cubicBezTo>
                    <a:pt x="53527" y="704747"/>
                    <a:pt x="34998" y="697072"/>
                    <a:pt x="21337" y="683410"/>
                  </a:cubicBezTo>
                  <a:cubicBezTo>
                    <a:pt x="7675" y="669749"/>
                    <a:pt x="0" y="651219"/>
                    <a:pt x="0" y="631899"/>
                  </a:cubicBezTo>
                  <a:lnTo>
                    <a:pt x="0" y="72848"/>
                  </a:lnTo>
                  <a:cubicBezTo>
                    <a:pt x="0" y="53527"/>
                    <a:pt x="7675" y="34998"/>
                    <a:pt x="21337" y="21337"/>
                  </a:cubicBezTo>
                  <a:cubicBezTo>
                    <a:pt x="34998" y="7675"/>
                    <a:pt x="53527" y="0"/>
                    <a:pt x="72848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4125329"/>
            <a:ext cx="3572856" cy="187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61"/>
              </a:lnSpc>
            </a:pPr>
            <a:r>
              <a:rPr lang="en-US" sz="1786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Implementamos os modelos sem otimizações de hiperparâmetros. Eles serviram como referência para medir o desempenho inicial e identificar quais técnicas apresentavam potencial para melhorias futuras.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6014" y="3474266"/>
            <a:ext cx="2592664" cy="56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sz="2229" spc="222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VERSÕES BASELINE DOS MODELOS</a:t>
            </a:r>
          </a:p>
        </p:txBody>
      </p:sp>
      <p:sp>
        <p:nvSpPr>
          <p:cNvPr name="AutoShape 13" id="13"/>
          <p:cNvSpPr/>
          <p:nvPr/>
        </p:nvSpPr>
        <p:spPr>
          <a:xfrm flipH="true">
            <a:off x="7051697" y="6284246"/>
            <a:ext cx="0" cy="796637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138747" y="3195121"/>
            <a:ext cx="3825900" cy="3089124"/>
            <a:chOff x="0" y="0"/>
            <a:chExt cx="872834" cy="7047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2834" cy="704747"/>
            </a:xfrm>
            <a:custGeom>
              <a:avLst/>
              <a:gdLst/>
              <a:ahLst/>
              <a:cxnLst/>
              <a:rect r="r" b="b" t="t" l="l"/>
              <a:pathLst>
                <a:path h="704747" w="872834">
                  <a:moveTo>
                    <a:pt x="72848" y="0"/>
                  </a:moveTo>
                  <a:lnTo>
                    <a:pt x="799986" y="0"/>
                  </a:lnTo>
                  <a:cubicBezTo>
                    <a:pt x="819306" y="0"/>
                    <a:pt x="837835" y="7675"/>
                    <a:pt x="851497" y="21337"/>
                  </a:cubicBezTo>
                  <a:cubicBezTo>
                    <a:pt x="865159" y="34998"/>
                    <a:pt x="872834" y="53527"/>
                    <a:pt x="872834" y="72848"/>
                  </a:cubicBezTo>
                  <a:lnTo>
                    <a:pt x="872834" y="631899"/>
                  </a:lnTo>
                  <a:cubicBezTo>
                    <a:pt x="872834" y="651219"/>
                    <a:pt x="865159" y="669749"/>
                    <a:pt x="851497" y="683410"/>
                  </a:cubicBezTo>
                  <a:cubicBezTo>
                    <a:pt x="837835" y="697072"/>
                    <a:pt x="819306" y="704747"/>
                    <a:pt x="799986" y="704747"/>
                  </a:cubicBezTo>
                  <a:lnTo>
                    <a:pt x="72848" y="704747"/>
                  </a:lnTo>
                  <a:cubicBezTo>
                    <a:pt x="53527" y="704747"/>
                    <a:pt x="34998" y="697072"/>
                    <a:pt x="21337" y="683410"/>
                  </a:cubicBezTo>
                  <a:cubicBezTo>
                    <a:pt x="7675" y="669749"/>
                    <a:pt x="0" y="651219"/>
                    <a:pt x="0" y="631899"/>
                  </a:cubicBezTo>
                  <a:lnTo>
                    <a:pt x="0" y="72848"/>
                  </a:lnTo>
                  <a:cubicBezTo>
                    <a:pt x="0" y="53527"/>
                    <a:pt x="7675" y="34998"/>
                    <a:pt x="21337" y="21337"/>
                  </a:cubicBezTo>
                  <a:cubicBezTo>
                    <a:pt x="34998" y="7675"/>
                    <a:pt x="53527" y="0"/>
                    <a:pt x="72848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138747" y="4212329"/>
            <a:ext cx="3824051" cy="162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8"/>
              </a:lnSpc>
            </a:pPr>
            <a:r>
              <a:rPr lang="en-US" sz="1790" spc="-125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 Otimizamos os modelos para melhorar seu desempenho. Utilizamos técnicas como randomized search e cross-validation para explorar diferentes combinações de hiperparâmetros, buscando maximizar a acurácia.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65186" y="3464741"/>
            <a:ext cx="1982211" cy="58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2286" spc="228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FINE TUNING DOS MODELOS</a:t>
            </a:r>
          </a:p>
        </p:txBody>
      </p:sp>
      <p:sp>
        <p:nvSpPr>
          <p:cNvPr name="AutoShape 19" id="19"/>
          <p:cNvSpPr/>
          <p:nvPr/>
        </p:nvSpPr>
        <p:spPr>
          <a:xfrm>
            <a:off x="11371048" y="6284246"/>
            <a:ext cx="0" cy="796637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9458097" y="3195121"/>
            <a:ext cx="3825900" cy="3089124"/>
            <a:chOff x="0" y="0"/>
            <a:chExt cx="872834" cy="7047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2834" cy="704747"/>
            </a:xfrm>
            <a:custGeom>
              <a:avLst/>
              <a:gdLst/>
              <a:ahLst/>
              <a:cxnLst/>
              <a:rect r="r" b="b" t="t" l="l"/>
              <a:pathLst>
                <a:path h="704747" w="872834">
                  <a:moveTo>
                    <a:pt x="72848" y="0"/>
                  </a:moveTo>
                  <a:lnTo>
                    <a:pt x="799986" y="0"/>
                  </a:lnTo>
                  <a:cubicBezTo>
                    <a:pt x="819306" y="0"/>
                    <a:pt x="837835" y="7675"/>
                    <a:pt x="851497" y="21337"/>
                  </a:cubicBezTo>
                  <a:cubicBezTo>
                    <a:pt x="865159" y="34998"/>
                    <a:pt x="872834" y="53527"/>
                    <a:pt x="872834" y="72848"/>
                  </a:cubicBezTo>
                  <a:lnTo>
                    <a:pt x="872834" y="631899"/>
                  </a:lnTo>
                  <a:cubicBezTo>
                    <a:pt x="872834" y="651219"/>
                    <a:pt x="865159" y="669749"/>
                    <a:pt x="851497" y="683410"/>
                  </a:cubicBezTo>
                  <a:cubicBezTo>
                    <a:pt x="837835" y="697072"/>
                    <a:pt x="819306" y="704747"/>
                    <a:pt x="799986" y="704747"/>
                  </a:cubicBezTo>
                  <a:lnTo>
                    <a:pt x="72848" y="704747"/>
                  </a:lnTo>
                  <a:cubicBezTo>
                    <a:pt x="53527" y="704747"/>
                    <a:pt x="34998" y="697072"/>
                    <a:pt x="21337" y="683410"/>
                  </a:cubicBezTo>
                  <a:cubicBezTo>
                    <a:pt x="7675" y="669749"/>
                    <a:pt x="0" y="651219"/>
                    <a:pt x="0" y="631899"/>
                  </a:cubicBezTo>
                  <a:lnTo>
                    <a:pt x="0" y="72848"/>
                  </a:lnTo>
                  <a:cubicBezTo>
                    <a:pt x="0" y="53527"/>
                    <a:pt x="7675" y="34998"/>
                    <a:pt x="21337" y="21337"/>
                  </a:cubicBezTo>
                  <a:cubicBezTo>
                    <a:pt x="34998" y="7675"/>
                    <a:pt x="53527" y="0"/>
                    <a:pt x="72848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906449" y="4241753"/>
            <a:ext cx="2929197" cy="1935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30"/>
              </a:lnSpc>
            </a:pPr>
            <a:r>
              <a:rPr lang="en-US" sz="1645" spc="-42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Avaliamos detalhadamente o desempenho de cada modelo otimizado. Utilizamos classification reports e curvas ROC para analisar as métricas de precisão, recall, F1-Score e a área sob a curva ROC (AUC-ROC).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87733" y="3455216"/>
            <a:ext cx="1566629" cy="63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1"/>
              </a:lnSpc>
            </a:pPr>
            <a:r>
              <a:rPr lang="en-US" sz="2286" spc="228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AVALIAÇÃO INDIVIDUAL</a:t>
            </a:r>
          </a:p>
        </p:txBody>
      </p:sp>
      <p:sp>
        <p:nvSpPr>
          <p:cNvPr name="AutoShape 25" id="25"/>
          <p:cNvSpPr/>
          <p:nvPr/>
        </p:nvSpPr>
        <p:spPr>
          <a:xfrm>
            <a:off x="15690398" y="6284246"/>
            <a:ext cx="0" cy="796637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3777448" y="3195121"/>
            <a:ext cx="3825900" cy="3089124"/>
            <a:chOff x="0" y="0"/>
            <a:chExt cx="872834" cy="7047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72834" cy="704747"/>
            </a:xfrm>
            <a:custGeom>
              <a:avLst/>
              <a:gdLst/>
              <a:ahLst/>
              <a:cxnLst/>
              <a:rect r="r" b="b" t="t" l="l"/>
              <a:pathLst>
                <a:path h="704747" w="872834">
                  <a:moveTo>
                    <a:pt x="72848" y="0"/>
                  </a:moveTo>
                  <a:lnTo>
                    <a:pt x="799986" y="0"/>
                  </a:lnTo>
                  <a:cubicBezTo>
                    <a:pt x="819306" y="0"/>
                    <a:pt x="837835" y="7675"/>
                    <a:pt x="851497" y="21337"/>
                  </a:cubicBezTo>
                  <a:cubicBezTo>
                    <a:pt x="865159" y="34998"/>
                    <a:pt x="872834" y="53527"/>
                    <a:pt x="872834" y="72848"/>
                  </a:cubicBezTo>
                  <a:lnTo>
                    <a:pt x="872834" y="631899"/>
                  </a:lnTo>
                  <a:cubicBezTo>
                    <a:pt x="872834" y="651219"/>
                    <a:pt x="865159" y="669749"/>
                    <a:pt x="851497" y="683410"/>
                  </a:cubicBezTo>
                  <a:cubicBezTo>
                    <a:pt x="837835" y="697072"/>
                    <a:pt x="819306" y="704747"/>
                    <a:pt x="799986" y="704747"/>
                  </a:cubicBezTo>
                  <a:lnTo>
                    <a:pt x="72848" y="704747"/>
                  </a:lnTo>
                  <a:cubicBezTo>
                    <a:pt x="53527" y="704747"/>
                    <a:pt x="34998" y="697072"/>
                    <a:pt x="21337" y="683410"/>
                  </a:cubicBezTo>
                  <a:cubicBezTo>
                    <a:pt x="7675" y="669749"/>
                    <a:pt x="0" y="651219"/>
                    <a:pt x="0" y="631899"/>
                  </a:cubicBezTo>
                  <a:lnTo>
                    <a:pt x="0" y="72848"/>
                  </a:lnTo>
                  <a:cubicBezTo>
                    <a:pt x="0" y="53527"/>
                    <a:pt x="7675" y="34998"/>
                    <a:pt x="21337" y="21337"/>
                  </a:cubicBezTo>
                  <a:cubicBezTo>
                    <a:pt x="34998" y="7675"/>
                    <a:pt x="53527" y="0"/>
                    <a:pt x="72848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4074573" y="4358983"/>
            <a:ext cx="3322978" cy="161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3"/>
              </a:lnSpc>
            </a:pPr>
            <a:r>
              <a:rPr lang="en-US" sz="1739" spc="-73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Comparamos todos os modelos avaliados com base nas métricas de desempenho obtidas. Criamos gráficos comparativos e escolhemos o modelo com base no equilíbrio das suas métricas.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029587" y="3555979"/>
            <a:ext cx="3451050" cy="58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2286" spc="228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COMPARAÇÃO E ESCOLHA DO MODELO FINAL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3006451" y="1114425"/>
            <a:ext cx="12275098" cy="65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80"/>
              </a:lnSpc>
              <a:spcBef>
                <a:spcPct val="0"/>
              </a:spcBef>
            </a:pPr>
            <a:r>
              <a:rPr lang="en-US" sz="4831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MODELOS QUE FORAM UTILIZADOS NOS EXPERIMENTOS: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06451" y="2284142"/>
            <a:ext cx="5510631" cy="1070733"/>
            <a:chOff x="0" y="0"/>
            <a:chExt cx="1435448" cy="2789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5448" cy="278912"/>
            </a:xfrm>
            <a:custGeom>
              <a:avLst/>
              <a:gdLst/>
              <a:ahLst/>
              <a:cxnLst/>
              <a:rect r="r" b="b" t="t" l="l"/>
              <a:pathLst>
                <a:path h="278912" w="1435448">
                  <a:moveTo>
                    <a:pt x="50577" y="0"/>
                  </a:moveTo>
                  <a:lnTo>
                    <a:pt x="1384871" y="0"/>
                  </a:lnTo>
                  <a:cubicBezTo>
                    <a:pt x="1412804" y="0"/>
                    <a:pt x="1435448" y="22644"/>
                    <a:pt x="1435448" y="50577"/>
                  </a:cubicBezTo>
                  <a:lnTo>
                    <a:pt x="1435448" y="228335"/>
                  </a:lnTo>
                  <a:cubicBezTo>
                    <a:pt x="1435448" y="256268"/>
                    <a:pt x="1412804" y="278912"/>
                    <a:pt x="1384871" y="278912"/>
                  </a:cubicBezTo>
                  <a:lnTo>
                    <a:pt x="50577" y="278912"/>
                  </a:lnTo>
                  <a:cubicBezTo>
                    <a:pt x="22644" y="278912"/>
                    <a:pt x="0" y="256268"/>
                    <a:pt x="0" y="228335"/>
                  </a:cubicBezTo>
                  <a:lnTo>
                    <a:pt x="0" y="50577"/>
                  </a:lnTo>
                  <a:cubicBezTo>
                    <a:pt x="0" y="22644"/>
                    <a:pt x="22644" y="0"/>
                    <a:pt x="50577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35448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K-NEAREST NEIGHBORS (K-NN)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072560" y="5663858"/>
            <a:ext cx="3275596" cy="1070733"/>
            <a:chOff x="0" y="0"/>
            <a:chExt cx="853250" cy="2789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3250" cy="278912"/>
            </a:xfrm>
            <a:custGeom>
              <a:avLst/>
              <a:gdLst/>
              <a:ahLst/>
              <a:cxnLst/>
              <a:rect r="r" b="b" t="t" l="l"/>
              <a:pathLst>
                <a:path h="278912" w="853250">
                  <a:moveTo>
                    <a:pt x="85087" y="0"/>
                  </a:moveTo>
                  <a:lnTo>
                    <a:pt x="768164" y="0"/>
                  </a:lnTo>
                  <a:cubicBezTo>
                    <a:pt x="790730" y="0"/>
                    <a:pt x="812372" y="8964"/>
                    <a:pt x="828329" y="24921"/>
                  </a:cubicBezTo>
                  <a:cubicBezTo>
                    <a:pt x="844286" y="40878"/>
                    <a:pt x="853250" y="62520"/>
                    <a:pt x="853250" y="85087"/>
                  </a:cubicBezTo>
                  <a:lnTo>
                    <a:pt x="853250" y="193826"/>
                  </a:lnTo>
                  <a:cubicBezTo>
                    <a:pt x="853250" y="216392"/>
                    <a:pt x="844286" y="238034"/>
                    <a:pt x="828329" y="253991"/>
                  </a:cubicBezTo>
                  <a:cubicBezTo>
                    <a:pt x="812372" y="269948"/>
                    <a:pt x="790730" y="278912"/>
                    <a:pt x="768164" y="278912"/>
                  </a:cubicBezTo>
                  <a:lnTo>
                    <a:pt x="85087" y="278912"/>
                  </a:lnTo>
                  <a:cubicBezTo>
                    <a:pt x="62520" y="278912"/>
                    <a:pt x="40878" y="269948"/>
                    <a:pt x="24921" y="253991"/>
                  </a:cubicBezTo>
                  <a:cubicBezTo>
                    <a:pt x="8964" y="238034"/>
                    <a:pt x="0" y="216392"/>
                    <a:pt x="0" y="193826"/>
                  </a:cubicBezTo>
                  <a:lnTo>
                    <a:pt x="0" y="85087"/>
                  </a:lnTo>
                  <a:cubicBezTo>
                    <a:pt x="0" y="62520"/>
                    <a:pt x="8964" y="40878"/>
                    <a:pt x="24921" y="24921"/>
                  </a:cubicBezTo>
                  <a:cubicBezTo>
                    <a:pt x="40878" y="8964"/>
                    <a:pt x="62520" y="0"/>
                    <a:pt x="85087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53250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RANDOM FOREST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68492" y="3861179"/>
            <a:ext cx="5689362" cy="1070733"/>
            <a:chOff x="0" y="0"/>
            <a:chExt cx="1482005" cy="2789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82005" cy="278912"/>
            </a:xfrm>
            <a:custGeom>
              <a:avLst/>
              <a:gdLst/>
              <a:ahLst/>
              <a:cxnLst/>
              <a:rect r="r" b="b" t="t" l="l"/>
              <a:pathLst>
                <a:path h="278912" w="1482005">
                  <a:moveTo>
                    <a:pt x="48988" y="0"/>
                  </a:moveTo>
                  <a:lnTo>
                    <a:pt x="1433017" y="0"/>
                  </a:lnTo>
                  <a:cubicBezTo>
                    <a:pt x="1446009" y="0"/>
                    <a:pt x="1458470" y="5161"/>
                    <a:pt x="1467657" y="14348"/>
                  </a:cubicBezTo>
                  <a:cubicBezTo>
                    <a:pt x="1476844" y="23535"/>
                    <a:pt x="1482005" y="35995"/>
                    <a:pt x="1482005" y="48988"/>
                  </a:cubicBezTo>
                  <a:lnTo>
                    <a:pt x="1482005" y="229924"/>
                  </a:lnTo>
                  <a:cubicBezTo>
                    <a:pt x="1482005" y="242917"/>
                    <a:pt x="1476844" y="255377"/>
                    <a:pt x="1467657" y="264564"/>
                  </a:cubicBezTo>
                  <a:cubicBezTo>
                    <a:pt x="1458470" y="273751"/>
                    <a:pt x="1446009" y="278912"/>
                    <a:pt x="1433017" y="278912"/>
                  </a:cubicBezTo>
                  <a:lnTo>
                    <a:pt x="48988" y="278912"/>
                  </a:lnTo>
                  <a:cubicBezTo>
                    <a:pt x="21933" y="278912"/>
                    <a:pt x="0" y="256979"/>
                    <a:pt x="0" y="229924"/>
                  </a:cubicBezTo>
                  <a:lnTo>
                    <a:pt x="0" y="48988"/>
                  </a:lnTo>
                  <a:cubicBezTo>
                    <a:pt x="0" y="35995"/>
                    <a:pt x="5161" y="23535"/>
                    <a:pt x="14348" y="14348"/>
                  </a:cubicBezTo>
                  <a:cubicBezTo>
                    <a:pt x="23535" y="5161"/>
                    <a:pt x="35995" y="0"/>
                    <a:pt x="48988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82005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SUPPORT VECTOR MACHINE (SVM)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68492" y="2284142"/>
            <a:ext cx="6683409" cy="1070733"/>
            <a:chOff x="0" y="0"/>
            <a:chExt cx="1740941" cy="2789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40941" cy="278912"/>
            </a:xfrm>
            <a:custGeom>
              <a:avLst/>
              <a:gdLst/>
              <a:ahLst/>
              <a:cxnLst/>
              <a:rect r="r" b="b" t="t" l="l"/>
              <a:pathLst>
                <a:path h="278912" w="1740941">
                  <a:moveTo>
                    <a:pt x="41702" y="0"/>
                  </a:moveTo>
                  <a:lnTo>
                    <a:pt x="1699239" y="0"/>
                  </a:lnTo>
                  <a:cubicBezTo>
                    <a:pt x="1722271" y="0"/>
                    <a:pt x="1740941" y="18670"/>
                    <a:pt x="1740941" y="41702"/>
                  </a:cubicBezTo>
                  <a:lnTo>
                    <a:pt x="1740941" y="237210"/>
                  </a:lnTo>
                  <a:cubicBezTo>
                    <a:pt x="1740941" y="260242"/>
                    <a:pt x="1722271" y="278912"/>
                    <a:pt x="1699239" y="278912"/>
                  </a:cubicBezTo>
                  <a:lnTo>
                    <a:pt x="41702" y="278912"/>
                  </a:lnTo>
                  <a:cubicBezTo>
                    <a:pt x="18670" y="278912"/>
                    <a:pt x="0" y="260242"/>
                    <a:pt x="0" y="237210"/>
                  </a:cubicBezTo>
                  <a:lnTo>
                    <a:pt x="0" y="41702"/>
                  </a:lnTo>
                  <a:cubicBezTo>
                    <a:pt x="0" y="18670"/>
                    <a:pt x="18670" y="0"/>
                    <a:pt x="41702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740941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LEARNING VECTOR QUANTIZATION (LVQ)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006451" y="3974000"/>
            <a:ext cx="3341705" cy="1070733"/>
            <a:chOff x="0" y="0"/>
            <a:chExt cx="870471" cy="2789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70471" cy="278912"/>
            </a:xfrm>
            <a:custGeom>
              <a:avLst/>
              <a:gdLst/>
              <a:ahLst/>
              <a:cxnLst/>
              <a:rect r="r" b="b" t="t" l="l"/>
              <a:pathLst>
                <a:path h="278912" w="870471">
                  <a:moveTo>
                    <a:pt x="83403" y="0"/>
                  </a:moveTo>
                  <a:lnTo>
                    <a:pt x="787067" y="0"/>
                  </a:lnTo>
                  <a:cubicBezTo>
                    <a:pt x="809187" y="0"/>
                    <a:pt x="830401" y="8787"/>
                    <a:pt x="846042" y="24428"/>
                  </a:cubicBezTo>
                  <a:cubicBezTo>
                    <a:pt x="861684" y="40069"/>
                    <a:pt x="870471" y="61283"/>
                    <a:pt x="870471" y="83403"/>
                  </a:cubicBezTo>
                  <a:lnTo>
                    <a:pt x="870471" y="195509"/>
                  </a:lnTo>
                  <a:cubicBezTo>
                    <a:pt x="870471" y="217629"/>
                    <a:pt x="861684" y="238843"/>
                    <a:pt x="846042" y="254484"/>
                  </a:cubicBezTo>
                  <a:cubicBezTo>
                    <a:pt x="830401" y="270125"/>
                    <a:pt x="809187" y="278912"/>
                    <a:pt x="787067" y="278912"/>
                  </a:cubicBezTo>
                  <a:lnTo>
                    <a:pt x="83403" y="278912"/>
                  </a:lnTo>
                  <a:cubicBezTo>
                    <a:pt x="61283" y="278912"/>
                    <a:pt x="40069" y="270125"/>
                    <a:pt x="24428" y="254484"/>
                  </a:cubicBezTo>
                  <a:cubicBezTo>
                    <a:pt x="8787" y="238843"/>
                    <a:pt x="0" y="217629"/>
                    <a:pt x="0" y="195509"/>
                  </a:cubicBezTo>
                  <a:lnTo>
                    <a:pt x="0" y="83403"/>
                  </a:lnTo>
                  <a:cubicBezTo>
                    <a:pt x="0" y="61283"/>
                    <a:pt x="8787" y="40069"/>
                    <a:pt x="24428" y="24428"/>
                  </a:cubicBezTo>
                  <a:cubicBezTo>
                    <a:pt x="40069" y="8787"/>
                    <a:pt x="61283" y="0"/>
                    <a:pt x="83403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70471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DECISION TREE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006451" y="7716318"/>
            <a:ext cx="5041381" cy="1070733"/>
            <a:chOff x="0" y="0"/>
            <a:chExt cx="1313214" cy="2789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13214" cy="278912"/>
            </a:xfrm>
            <a:custGeom>
              <a:avLst/>
              <a:gdLst/>
              <a:ahLst/>
              <a:cxnLst/>
              <a:rect r="r" b="b" t="t" l="l"/>
              <a:pathLst>
                <a:path h="278912" w="1313214">
                  <a:moveTo>
                    <a:pt x="55284" y="0"/>
                  </a:moveTo>
                  <a:lnTo>
                    <a:pt x="1257930" y="0"/>
                  </a:lnTo>
                  <a:cubicBezTo>
                    <a:pt x="1272592" y="0"/>
                    <a:pt x="1286654" y="5825"/>
                    <a:pt x="1297022" y="16192"/>
                  </a:cubicBezTo>
                  <a:cubicBezTo>
                    <a:pt x="1307390" y="26560"/>
                    <a:pt x="1313214" y="40622"/>
                    <a:pt x="1313214" y="55284"/>
                  </a:cubicBezTo>
                  <a:lnTo>
                    <a:pt x="1313214" y="223628"/>
                  </a:lnTo>
                  <a:cubicBezTo>
                    <a:pt x="1313214" y="238290"/>
                    <a:pt x="1307390" y="252352"/>
                    <a:pt x="1297022" y="262720"/>
                  </a:cubicBezTo>
                  <a:cubicBezTo>
                    <a:pt x="1286654" y="273087"/>
                    <a:pt x="1272592" y="278912"/>
                    <a:pt x="1257930" y="278912"/>
                  </a:cubicBezTo>
                  <a:lnTo>
                    <a:pt x="55284" y="278912"/>
                  </a:lnTo>
                  <a:cubicBezTo>
                    <a:pt x="40622" y="278912"/>
                    <a:pt x="26560" y="273087"/>
                    <a:pt x="16192" y="262720"/>
                  </a:cubicBezTo>
                  <a:cubicBezTo>
                    <a:pt x="5825" y="252352"/>
                    <a:pt x="0" y="238290"/>
                    <a:pt x="0" y="223628"/>
                  </a:cubicBezTo>
                  <a:lnTo>
                    <a:pt x="0" y="55284"/>
                  </a:lnTo>
                  <a:cubicBezTo>
                    <a:pt x="0" y="40622"/>
                    <a:pt x="5825" y="26560"/>
                    <a:pt x="16192" y="16192"/>
                  </a:cubicBezTo>
                  <a:cubicBezTo>
                    <a:pt x="26560" y="5825"/>
                    <a:pt x="40622" y="0"/>
                    <a:pt x="55284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13214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COMITÊS DE REDES NEURAIS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68492" y="5687708"/>
            <a:ext cx="5803825" cy="1070733"/>
            <a:chOff x="0" y="0"/>
            <a:chExt cx="1511821" cy="2789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11821" cy="278912"/>
            </a:xfrm>
            <a:custGeom>
              <a:avLst/>
              <a:gdLst/>
              <a:ahLst/>
              <a:cxnLst/>
              <a:rect r="r" b="b" t="t" l="l"/>
              <a:pathLst>
                <a:path h="278912" w="1511821">
                  <a:moveTo>
                    <a:pt x="48022" y="0"/>
                  </a:moveTo>
                  <a:lnTo>
                    <a:pt x="1463799" y="0"/>
                  </a:lnTo>
                  <a:cubicBezTo>
                    <a:pt x="1490321" y="0"/>
                    <a:pt x="1511821" y="21500"/>
                    <a:pt x="1511821" y="48022"/>
                  </a:cubicBezTo>
                  <a:lnTo>
                    <a:pt x="1511821" y="230890"/>
                  </a:lnTo>
                  <a:cubicBezTo>
                    <a:pt x="1511821" y="243627"/>
                    <a:pt x="1506762" y="255841"/>
                    <a:pt x="1497756" y="264847"/>
                  </a:cubicBezTo>
                  <a:cubicBezTo>
                    <a:pt x="1488750" y="273853"/>
                    <a:pt x="1476535" y="278912"/>
                    <a:pt x="1463799" y="278912"/>
                  </a:cubicBezTo>
                  <a:lnTo>
                    <a:pt x="48022" y="278912"/>
                  </a:lnTo>
                  <a:cubicBezTo>
                    <a:pt x="35285" y="278912"/>
                    <a:pt x="23071" y="273853"/>
                    <a:pt x="14065" y="264847"/>
                  </a:cubicBezTo>
                  <a:cubicBezTo>
                    <a:pt x="5059" y="255841"/>
                    <a:pt x="0" y="243627"/>
                    <a:pt x="0" y="230890"/>
                  </a:cubicBezTo>
                  <a:lnTo>
                    <a:pt x="0" y="48022"/>
                  </a:lnTo>
                  <a:cubicBezTo>
                    <a:pt x="0" y="35285"/>
                    <a:pt x="5059" y="23071"/>
                    <a:pt x="14065" y="14065"/>
                  </a:cubicBezTo>
                  <a:cubicBezTo>
                    <a:pt x="23071" y="5059"/>
                    <a:pt x="35285" y="0"/>
                    <a:pt x="48022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511821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MULTI-LAYER PERCEPTRON (MLP)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68492" y="7716318"/>
            <a:ext cx="5070838" cy="1070733"/>
            <a:chOff x="0" y="0"/>
            <a:chExt cx="1320887" cy="2789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20887" cy="278912"/>
            </a:xfrm>
            <a:custGeom>
              <a:avLst/>
              <a:gdLst/>
              <a:ahLst/>
              <a:cxnLst/>
              <a:rect r="r" b="b" t="t" l="l"/>
              <a:pathLst>
                <a:path h="278912" w="1320887">
                  <a:moveTo>
                    <a:pt x="54963" y="0"/>
                  </a:moveTo>
                  <a:lnTo>
                    <a:pt x="1265924" y="0"/>
                  </a:lnTo>
                  <a:cubicBezTo>
                    <a:pt x="1296280" y="0"/>
                    <a:pt x="1320887" y="24608"/>
                    <a:pt x="1320887" y="54963"/>
                  </a:cubicBezTo>
                  <a:lnTo>
                    <a:pt x="1320887" y="223949"/>
                  </a:lnTo>
                  <a:cubicBezTo>
                    <a:pt x="1320887" y="254304"/>
                    <a:pt x="1296280" y="278912"/>
                    <a:pt x="1265924" y="278912"/>
                  </a:cubicBezTo>
                  <a:lnTo>
                    <a:pt x="54963" y="278912"/>
                  </a:lnTo>
                  <a:cubicBezTo>
                    <a:pt x="24608" y="278912"/>
                    <a:pt x="0" y="254304"/>
                    <a:pt x="0" y="223949"/>
                  </a:cubicBezTo>
                  <a:lnTo>
                    <a:pt x="0" y="54963"/>
                  </a:lnTo>
                  <a:cubicBezTo>
                    <a:pt x="0" y="24608"/>
                    <a:pt x="24608" y="0"/>
                    <a:pt x="54963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320887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COMITÊS HETEROGÊNEOS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946277" y="1481646"/>
            <a:ext cx="13577062" cy="65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80"/>
              </a:lnSpc>
              <a:spcBef>
                <a:spcPct val="0"/>
              </a:spcBef>
            </a:pPr>
            <a:r>
              <a:rPr lang="en-US" sz="4831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PARÂMETROS CONSIDERADOS PARA CADA MODELO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49592" y="2738636"/>
            <a:ext cx="5510631" cy="1070733"/>
            <a:chOff x="0" y="0"/>
            <a:chExt cx="1435448" cy="2789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5448" cy="278912"/>
            </a:xfrm>
            <a:custGeom>
              <a:avLst/>
              <a:gdLst/>
              <a:ahLst/>
              <a:cxnLst/>
              <a:rect r="r" b="b" t="t" l="l"/>
              <a:pathLst>
                <a:path h="278912" w="1435448">
                  <a:moveTo>
                    <a:pt x="50577" y="0"/>
                  </a:moveTo>
                  <a:lnTo>
                    <a:pt x="1384871" y="0"/>
                  </a:lnTo>
                  <a:cubicBezTo>
                    <a:pt x="1412804" y="0"/>
                    <a:pt x="1435448" y="22644"/>
                    <a:pt x="1435448" y="50577"/>
                  </a:cubicBezTo>
                  <a:lnTo>
                    <a:pt x="1435448" y="228335"/>
                  </a:lnTo>
                  <a:cubicBezTo>
                    <a:pt x="1435448" y="256268"/>
                    <a:pt x="1412804" y="278912"/>
                    <a:pt x="1384871" y="278912"/>
                  </a:cubicBezTo>
                  <a:lnTo>
                    <a:pt x="50577" y="278912"/>
                  </a:lnTo>
                  <a:cubicBezTo>
                    <a:pt x="22644" y="278912"/>
                    <a:pt x="0" y="256268"/>
                    <a:pt x="0" y="228335"/>
                  </a:cubicBezTo>
                  <a:lnTo>
                    <a:pt x="0" y="50577"/>
                  </a:lnTo>
                  <a:cubicBezTo>
                    <a:pt x="0" y="22644"/>
                    <a:pt x="22644" y="0"/>
                    <a:pt x="50577" y="0"/>
                  </a:cubicBezTo>
                  <a:close/>
                </a:path>
              </a:pathLst>
            </a:custGeom>
            <a:solidFill>
              <a:srgbClr val="606060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35448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K-NEAREST NEIGHBORS (K-NN)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34808" y="6095283"/>
            <a:ext cx="5689362" cy="1070733"/>
            <a:chOff x="0" y="0"/>
            <a:chExt cx="1482005" cy="2789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82005" cy="278912"/>
            </a:xfrm>
            <a:custGeom>
              <a:avLst/>
              <a:gdLst/>
              <a:ahLst/>
              <a:cxnLst/>
              <a:rect r="r" b="b" t="t" l="l"/>
              <a:pathLst>
                <a:path h="278912" w="1482005">
                  <a:moveTo>
                    <a:pt x="48988" y="0"/>
                  </a:moveTo>
                  <a:lnTo>
                    <a:pt x="1433017" y="0"/>
                  </a:lnTo>
                  <a:cubicBezTo>
                    <a:pt x="1446009" y="0"/>
                    <a:pt x="1458470" y="5161"/>
                    <a:pt x="1467657" y="14348"/>
                  </a:cubicBezTo>
                  <a:cubicBezTo>
                    <a:pt x="1476844" y="23535"/>
                    <a:pt x="1482005" y="35995"/>
                    <a:pt x="1482005" y="48988"/>
                  </a:cubicBezTo>
                  <a:lnTo>
                    <a:pt x="1482005" y="229924"/>
                  </a:lnTo>
                  <a:cubicBezTo>
                    <a:pt x="1482005" y="242917"/>
                    <a:pt x="1476844" y="255377"/>
                    <a:pt x="1467657" y="264564"/>
                  </a:cubicBezTo>
                  <a:cubicBezTo>
                    <a:pt x="1458470" y="273751"/>
                    <a:pt x="1446009" y="278912"/>
                    <a:pt x="1433017" y="278912"/>
                  </a:cubicBezTo>
                  <a:lnTo>
                    <a:pt x="48988" y="278912"/>
                  </a:lnTo>
                  <a:cubicBezTo>
                    <a:pt x="21933" y="278912"/>
                    <a:pt x="0" y="256979"/>
                    <a:pt x="0" y="229924"/>
                  </a:cubicBezTo>
                  <a:lnTo>
                    <a:pt x="0" y="48988"/>
                  </a:lnTo>
                  <a:cubicBezTo>
                    <a:pt x="0" y="35995"/>
                    <a:pt x="5161" y="23535"/>
                    <a:pt x="14348" y="14348"/>
                  </a:cubicBezTo>
                  <a:cubicBezTo>
                    <a:pt x="23535" y="5161"/>
                    <a:pt x="35995" y="0"/>
                    <a:pt x="48988" y="0"/>
                  </a:cubicBezTo>
                  <a:close/>
                </a:path>
              </a:pathLst>
            </a:custGeom>
            <a:solidFill>
              <a:srgbClr val="606060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82005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SUPPORT VECTOR MACHINE (SVM)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34808" y="2738636"/>
            <a:ext cx="6683409" cy="1070733"/>
            <a:chOff x="0" y="0"/>
            <a:chExt cx="1740941" cy="2789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40941" cy="278912"/>
            </a:xfrm>
            <a:custGeom>
              <a:avLst/>
              <a:gdLst/>
              <a:ahLst/>
              <a:cxnLst/>
              <a:rect r="r" b="b" t="t" l="l"/>
              <a:pathLst>
                <a:path h="278912" w="1740941">
                  <a:moveTo>
                    <a:pt x="41702" y="0"/>
                  </a:moveTo>
                  <a:lnTo>
                    <a:pt x="1699239" y="0"/>
                  </a:lnTo>
                  <a:cubicBezTo>
                    <a:pt x="1722271" y="0"/>
                    <a:pt x="1740941" y="18670"/>
                    <a:pt x="1740941" y="41702"/>
                  </a:cubicBezTo>
                  <a:lnTo>
                    <a:pt x="1740941" y="237210"/>
                  </a:lnTo>
                  <a:cubicBezTo>
                    <a:pt x="1740941" y="260242"/>
                    <a:pt x="1722271" y="278912"/>
                    <a:pt x="1699239" y="278912"/>
                  </a:cubicBezTo>
                  <a:lnTo>
                    <a:pt x="41702" y="278912"/>
                  </a:lnTo>
                  <a:cubicBezTo>
                    <a:pt x="18670" y="278912"/>
                    <a:pt x="0" y="260242"/>
                    <a:pt x="0" y="237210"/>
                  </a:cubicBezTo>
                  <a:lnTo>
                    <a:pt x="0" y="41702"/>
                  </a:lnTo>
                  <a:cubicBezTo>
                    <a:pt x="0" y="18670"/>
                    <a:pt x="18670" y="0"/>
                    <a:pt x="41702" y="0"/>
                  </a:cubicBezTo>
                  <a:close/>
                </a:path>
              </a:pathLst>
            </a:custGeom>
            <a:solidFill>
              <a:srgbClr val="606060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40941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LEARNING VECTOR QUANTIZATION (LVQ)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49592" y="6095283"/>
            <a:ext cx="3341705" cy="1070733"/>
            <a:chOff x="0" y="0"/>
            <a:chExt cx="870471" cy="2789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0471" cy="278912"/>
            </a:xfrm>
            <a:custGeom>
              <a:avLst/>
              <a:gdLst/>
              <a:ahLst/>
              <a:cxnLst/>
              <a:rect r="r" b="b" t="t" l="l"/>
              <a:pathLst>
                <a:path h="278912" w="870471">
                  <a:moveTo>
                    <a:pt x="83403" y="0"/>
                  </a:moveTo>
                  <a:lnTo>
                    <a:pt x="787067" y="0"/>
                  </a:lnTo>
                  <a:cubicBezTo>
                    <a:pt x="809187" y="0"/>
                    <a:pt x="830401" y="8787"/>
                    <a:pt x="846042" y="24428"/>
                  </a:cubicBezTo>
                  <a:cubicBezTo>
                    <a:pt x="861684" y="40069"/>
                    <a:pt x="870471" y="61283"/>
                    <a:pt x="870471" y="83403"/>
                  </a:cubicBezTo>
                  <a:lnTo>
                    <a:pt x="870471" y="195509"/>
                  </a:lnTo>
                  <a:cubicBezTo>
                    <a:pt x="870471" y="217629"/>
                    <a:pt x="861684" y="238843"/>
                    <a:pt x="846042" y="254484"/>
                  </a:cubicBezTo>
                  <a:cubicBezTo>
                    <a:pt x="830401" y="270125"/>
                    <a:pt x="809187" y="278912"/>
                    <a:pt x="787067" y="278912"/>
                  </a:cubicBezTo>
                  <a:lnTo>
                    <a:pt x="83403" y="278912"/>
                  </a:lnTo>
                  <a:cubicBezTo>
                    <a:pt x="61283" y="278912"/>
                    <a:pt x="40069" y="270125"/>
                    <a:pt x="24428" y="254484"/>
                  </a:cubicBezTo>
                  <a:cubicBezTo>
                    <a:pt x="8787" y="238843"/>
                    <a:pt x="0" y="217629"/>
                    <a:pt x="0" y="195509"/>
                  </a:cubicBezTo>
                  <a:lnTo>
                    <a:pt x="0" y="83403"/>
                  </a:lnTo>
                  <a:cubicBezTo>
                    <a:pt x="0" y="61283"/>
                    <a:pt x="8787" y="40069"/>
                    <a:pt x="24428" y="24428"/>
                  </a:cubicBezTo>
                  <a:cubicBezTo>
                    <a:pt x="40069" y="8787"/>
                    <a:pt x="61283" y="0"/>
                    <a:pt x="83403" y="0"/>
                  </a:cubicBezTo>
                  <a:close/>
                </a:path>
              </a:pathLst>
            </a:custGeom>
            <a:solidFill>
              <a:srgbClr val="606060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70471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DECISION TREE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915335" y="4055237"/>
            <a:ext cx="6580049" cy="1627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2141" indent="-171071" lvl="1">
              <a:lnSpc>
                <a:spcPts val="1869"/>
              </a:lnSpc>
              <a:buFont typeface="Arial"/>
              <a:buChar char="•"/>
            </a:pPr>
            <a:r>
              <a:rPr lang="en-US" sz="1584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584" spc="232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n_neighbors</a:t>
            </a:r>
            <a:r>
              <a:rPr lang="en-US" sz="1584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Número de vizinhos a serem considerados, variando de 1 a 30.</a:t>
            </a:r>
          </a:p>
          <a:p>
            <a:pPr algn="l" marL="342141" indent="-171071" lvl="1">
              <a:lnSpc>
                <a:spcPts val="1869"/>
              </a:lnSpc>
              <a:buFont typeface="Arial"/>
              <a:buChar char="•"/>
            </a:pPr>
            <a:r>
              <a:rPr lang="en-US" sz="1584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584" spc="232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weights</a:t>
            </a:r>
            <a:r>
              <a:rPr lang="en-US" sz="1584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Tipo de ponderação dos vizinhos, podendo ser uniform (uniforme) ou distance (distância).</a:t>
            </a:r>
          </a:p>
          <a:p>
            <a:pPr algn="l" marL="342141" indent="-171071" lvl="1">
              <a:lnSpc>
                <a:spcPts val="1869"/>
              </a:lnSpc>
              <a:buFont typeface="Arial"/>
              <a:buChar char="•"/>
            </a:pPr>
            <a:r>
              <a:rPr lang="en-US" sz="1584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584" spc="232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metric</a:t>
            </a:r>
            <a:r>
              <a:rPr lang="en-US" sz="1584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Métrica de distância utilizada, podendo ser euclidean (euclidiana), manhattan (manhattan) ou minkowski (minkowski).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15335" y="7568717"/>
            <a:ext cx="7228665" cy="1855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1542" indent="-170771" lvl="1">
              <a:lnSpc>
                <a:spcPts val="1866"/>
              </a:lnSpc>
              <a:buFont typeface="Arial"/>
              <a:buChar char="•"/>
            </a:pP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581" spc="232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criterion</a:t>
            </a: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Critério de divisão, podendo ser gini ou entropy.</a:t>
            </a:r>
          </a:p>
          <a:p>
            <a:pPr algn="l" marL="341542" indent="-170771" lvl="1">
              <a:lnSpc>
                <a:spcPts val="1866"/>
              </a:lnSpc>
              <a:buFont typeface="Arial"/>
              <a:buChar char="•"/>
            </a:pP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581" spc="232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max_depth</a:t>
            </a: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Profundidade máxima da árvore, variando de 1 a 20.</a:t>
            </a:r>
          </a:p>
          <a:p>
            <a:pPr algn="l" marL="341542" indent="-170771" lvl="1">
              <a:lnSpc>
                <a:spcPts val="1866"/>
              </a:lnSpc>
              <a:buFont typeface="Arial"/>
              <a:buChar char="•"/>
            </a:pP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581" spc="232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min_samples_split</a:t>
            </a: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Número mínimo de amostras requeridas para dividir um nó, variando de 2 a 20.</a:t>
            </a:r>
          </a:p>
          <a:p>
            <a:pPr algn="l" marL="341542" indent="-170771" lvl="1">
              <a:lnSpc>
                <a:spcPts val="1866"/>
              </a:lnSpc>
              <a:buFont typeface="Arial"/>
              <a:buChar char="•"/>
            </a:pP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581" spc="232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min_samples_leaf</a:t>
            </a: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Número mínimo de amostras requeridas para estar em um nó folha, variando de 1 a 20.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60448" y="7766091"/>
            <a:ext cx="5721125" cy="1844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566" indent="-169783" lvl="1">
              <a:lnSpc>
                <a:spcPts val="1855"/>
              </a:lnSpc>
              <a:buFont typeface="Arial"/>
              <a:buChar char="•"/>
            </a:pPr>
            <a:r>
              <a:rPr lang="en-US" sz="1572" spc="231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572" spc="231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C</a:t>
            </a:r>
            <a:r>
              <a:rPr lang="en-US" sz="1572" spc="231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Parâmetro de regularização, variando em uma escala logarítmica de 0.001 a 1000.</a:t>
            </a:r>
          </a:p>
          <a:p>
            <a:pPr algn="l" marL="339566" indent="-169783" lvl="1">
              <a:lnSpc>
                <a:spcPts val="1855"/>
              </a:lnSpc>
              <a:buFont typeface="Arial"/>
              <a:buChar char="•"/>
            </a:pPr>
            <a:r>
              <a:rPr lang="en-US" sz="1572" spc="231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572" spc="231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gamma</a:t>
            </a:r>
            <a:r>
              <a:rPr lang="en-US" sz="1572" spc="231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Coeficiente do kernel, também variando em uma escala logarítmica de 0.001 a 1000.</a:t>
            </a:r>
          </a:p>
          <a:p>
            <a:pPr algn="l" marL="339566" indent="-169783" lvl="1">
              <a:lnSpc>
                <a:spcPts val="1855"/>
              </a:lnSpc>
              <a:buFont typeface="Arial"/>
              <a:buChar char="•"/>
            </a:pPr>
            <a:r>
              <a:rPr lang="en-US" sz="1572" spc="231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572" spc="231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kernel</a:t>
            </a:r>
            <a:r>
              <a:rPr lang="en-US" sz="1572" spc="231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Tipo de função kernel a ser utilizada, incluindo 'linear', 'rbf' (radial basis function) e 'poly' (polinomial).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16171" y="4055237"/>
            <a:ext cx="5560362" cy="161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1123" indent="-170561" lvl="1">
              <a:lnSpc>
                <a:spcPts val="1864"/>
              </a:lnSpc>
              <a:buFont typeface="Arial"/>
              <a:buChar char="•"/>
            </a:pPr>
            <a:r>
              <a:rPr lang="en-US" b="true" sz="1580" spc="232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alpha</a:t>
            </a:r>
            <a:r>
              <a:rPr lang="en-US" sz="1580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Taxa de aprendizado inicial, variando de 0.001 a 0.1, dividida em 100 incrementos uniformes.</a:t>
            </a:r>
          </a:p>
          <a:p>
            <a:pPr algn="l" marL="341123" indent="-170561" lvl="1">
              <a:lnSpc>
                <a:spcPts val="1864"/>
              </a:lnSpc>
              <a:buFont typeface="Arial"/>
              <a:buChar char="•"/>
            </a:pPr>
            <a:r>
              <a:rPr lang="en-US" b="true" sz="1580" spc="232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epochs</a:t>
            </a:r>
            <a:r>
              <a:rPr lang="en-US" sz="1580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580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Núm</a:t>
            </a:r>
            <a:r>
              <a:rPr lang="en-US" sz="1580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er</a:t>
            </a:r>
            <a:r>
              <a:rPr lang="en-US" sz="1580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o d</a:t>
            </a:r>
            <a:r>
              <a:rPr lang="en-US" sz="1580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1580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épocas (ciclos de treinamento), avaliando as opções 10, 30 e 40.</a:t>
            </a:r>
          </a:p>
          <a:p>
            <a:pPr algn="l">
              <a:lnSpc>
                <a:spcPts val="1864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3006451" y="1114425"/>
            <a:ext cx="13577062" cy="65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80"/>
              </a:lnSpc>
              <a:spcBef>
                <a:spcPct val="0"/>
              </a:spcBef>
            </a:pPr>
            <a:r>
              <a:rPr lang="en-US" sz="4831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PARÂMETROS CONSIDERADOS PARA CADA MODELO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661099" y="2498869"/>
            <a:ext cx="3275596" cy="1070733"/>
            <a:chOff x="0" y="0"/>
            <a:chExt cx="853250" cy="2789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3250" cy="278912"/>
            </a:xfrm>
            <a:custGeom>
              <a:avLst/>
              <a:gdLst/>
              <a:ahLst/>
              <a:cxnLst/>
              <a:rect r="r" b="b" t="t" l="l"/>
              <a:pathLst>
                <a:path h="278912" w="853250">
                  <a:moveTo>
                    <a:pt x="85087" y="0"/>
                  </a:moveTo>
                  <a:lnTo>
                    <a:pt x="768164" y="0"/>
                  </a:lnTo>
                  <a:cubicBezTo>
                    <a:pt x="790730" y="0"/>
                    <a:pt x="812372" y="8964"/>
                    <a:pt x="828329" y="24921"/>
                  </a:cubicBezTo>
                  <a:cubicBezTo>
                    <a:pt x="844286" y="40878"/>
                    <a:pt x="853250" y="62520"/>
                    <a:pt x="853250" y="85087"/>
                  </a:cubicBezTo>
                  <a:lnTo>
                    <a:pt x="853250" y="193826"/>
                  </a:lnTo>
                  <a:cubicBezTo>
                    <a:pt x="853250" y="216392"/>
                    <a:pt x="844286" y="238034"/>
                    <a:pt x="828329" y="253991"/>
                  </a:cubicBezTo>
                  <a:cubicBezTo>
                    <a:pt x="812372" y="269948"/>
                    <a:pt x="790730" y="278912"/>
                    <a:pt x="768164" y="278912"/>
                  </a:cubicBezTo>
                  <a:lnTo>
                    <a:pt x="85087" y="278912"/>
                  </a:lnTo>
                  <a:cubicBezTo>
                    <a:pt x="62520" y="278912"/>
                    <a:pt x="40878" y="269948"/>
                    <a:pt x="24921" y="253991"/>
                  </a:cubicBezTo>
                  <a:cubicBezTo>
                    <a:pt x="8964" y="238034"/>
                    <a:pt x="0" y="216392"/>
                    <a:pt x="0" y="193826"/>
                  </a:cubicBezTo>
                  <a:lnTo>
                    <a:pt x="0" y="85087"/>
                  </a:lnTo>
                  <a:cubicBezTo>
                    <a:pt x="0" y="62520"/>
                    <a:pt x="8964" y="40878"/>
                    <a:pt x="24921" y="24921"/>
                  </a:cubicBezTo>
                  <a:cubicBezTo>
                    <a:pt x="40878" y="8964"/>
                    <a:pt x="62520" y="0"/>
                    <a:pt x="85087" y="0"/>
                  </a:cubicBezTo>
                  <a:close/>
                </a:path>
              </a:pathLst>
            </a:custGeom>
            <a:solidFill>
              <a:srgbClr val="606060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53250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RANDOM FOREST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665699" y="7136054"/>
            <a:ext cx="6956601" cy="1070733"/>
            <a:chOff x="0" y="0"/>
            <a:chExt cx="1812104" cy="2789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12104" cy="278912"/>
            </a:xfrm>
            <a:custGeom>
              <a:avLst/>
              <a:gdLst/>
              <a:ahLst/>
              <a:cxnLst/>
              <a:rect r="r" b="b" t="t" l="l"/>
              <a:pathLst>
                <a:path h="278912" w="1812104">
                  <a:moveTo>
                    <a:pt x="40064" y="0"/>
                  </a:moveTo>
                  <a:lnTo>
                    <a:pt x="1772040" y="0"/>
                  </a:lnTo>
                  <a:cubicBezTo>
                    <a:pt x="1782666" y="0"/>
                    <a:pt x="1792856" y="4221"/>
                    <a:pt x="1800370" y="11734"/>
                  </a:cubicBezTo>
                  <a:cubicBezTo>
                    <a:pt x="1807883" y="19248"/>
                    <a:pt x="1812104" y="29438"/>
                    <a:pt x="1812104" y="40064"/>
                  </a:cubicBezTo>
                  <a:lnTo>
                    <a:pt x="1812104" y="238848"/>
                  </a:lnTo>
                  <a:cubicBezTo>
                    <a:pt x="1812104" y="249474"/>
                    <a:pt x="1807883" y="259664"/>
                    <a:pt x="1800370" y="267178"/>
                  </a:cubicBezTo>
                  <a:cubicBezTo>
                    <a:pt x="1792856" y="274691"/>
                    <a:pt x="1782666" y="278912"/>
                    <a:pt x="1772040" y="278912"/>
                  </a:cubicBezTo>
                  <a:lnTo>
                    <a:pt x="40064" y="278912"/>
                  </a:lnTo>
                  <a:cubicBezTo>
                    <a:pt x="29438" y="278912"/>
                    <a:pt x="19248" y="274691"/>
                    <a:pt x="11734" y="267178"/>
                  </a:cubicBezTo>
                  <a:cubicBezTo>
                    <a:pt x="4221" y="259664"/>
                    <a:pt x="0" y="249474"/>
                    <a:pt x="0" y="238848"/>
                  </a:cubicBezTo>
                  <a:lnTo>
                    <a:pt x="0" y="40064"/>
                  </a:lnTo>
                  <a:cubicBezTo>
                    <a:pt x="0" y="29438"/>
                    <a:pt x="4221" y="19248"/>
                    <a:pt x="11734" y="11734"/>
                  </a:cubicBezTo>
                  <a:cubicBezTo>
                    <a:pt x="19248" y="4221"/>
                    <a:pt x="29438" y="0"/>
                    <a:pt x="40064" y="0"/>
                  </a:cubicBezTo>
                  <a:close/>
                </a:path>
              </a:pathLst>
            </a:custGeom>
            <a:solidFill>
              <a:srgbClr val="606060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12104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COMITÊS DE REDES NEURAIS E HETEROGÊNEO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35393" y="2498869"/>
            <a:ext cx="5803825" cy="1070733"/>
            <a:chOff x="0" y="0"/>
            <a:chExt cx="1511821" cy="2789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11821" cy="278912"/>
            </a:xfrm>
            <a:custGeom>
              <a:avLst/>
              <a:gdLst/>
              <a:ahLst/>
              <a:cxnLst/>
              <a:rect r="r" b="b" t="t" l="l"/>
              <a:pathLst>
                <a:path h="278912" w="1511821">
                  <a:moveTo>
                    <a:pt x="48022" y="0"/>
                  </a:moveTo>
                  <a:lnTo>
                    <a:pt x="1463799" y="0"/>
                  </a:lnTo>
                  <a:cubicBezTo>
                    <a:pt x="1490321" y="0"/>
                    <a:pt x="1511821" y="21500"/>
                    <a:pt x="1511821" y="48022"/>
                  </a:cubicBezTo>
                  <a:lnTo>
                    <a:pt x="1511821" y="230890"/>
                  </a:lnTo>
                  <a:cubicBezTo>
                    <a:pt x="1511821" y="243627"/>
                    <a:pt x="1506762" y="255841"/>
                    <a:pt x="1497756" y="264847"/>
                  </a:cubicBezTo>
                  <a:cubicBezTo>
                    <a:pt x="1488750" y="273853"/>
                    <a:pt x="1476535" y="278912"/>
                    <a:pt x="1463799" y="278912"/>
                  </a:cubicBezTo>
                  <a:lnTo>
                    <a:pt x="48022" y="278912"/>
                  </a:lnTo>
                  <a:cubicBezTo>
                    <a:pt x="35285" y="278912"/>
                    <a:pt x="23071" y="273853"/>
                    <a:pt x="14065" y="264847"/>
                  </a:cubicBezTo>
                  <a:cubicBezTo>
                    <a:pt x="5059" y="255841"/>
                    <a:pt x="0" y="243627"/>
                    <a:pt x="0" y="230890"/>
                  </a:cubicBezTo>
                  <a:lnTo>
                    <a:pt x="0" y="48022"/>
                  </a:lnTo>
                  <a:cubicBezTo>
                    <a:pt x="0" y="35285"/>
                    <a:pt x="5059" y="23071"/>
                    <a:pt x="14065" y="14065"/>
                  </a:cubicBezTo>
                  <a:cubicBezTo>
                    <a:pt x="23071" y="5059"/>
                    <a:pt x="35285" y="0"/>
                    <a:pt x="48022" y="0"/>
                  </a:cubicBezTo>
                  <a:close/>
                </a:path>
              </a:pathLst>
            </a:custGeom>
            <a:solidFill>
              <a:srgbClr val="606060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11821" cy="3170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MULTI-LAYER PERCEPTRON (MLP)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778207" y="3874846"/>
            <a:ext cx="6260448" cy="2774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1358" indent="-170679" lvl="1">
              <a:lnSpc>
                <a:spcPts val="1865"/>
              </a:lnSpc>
              <a:buFont typeface="Arial"/>
              <a:buChar char="•"/>
            </a:pP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581" spc="232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n_estimators</a:t>
            </a: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Número de árvores na floresta, variando de 10 a 200.</a:t>
            </a:r>
          </a:p>
          <a:p>
            <a:pPr algn="l" marL="341358" indent="-170679" lvl="1">
              <a:lnSpc>
                <a:spcPts val="1865"/>
              </a:lnSpc>
              <a:buFont typeface="Arial"/>
              <a:buChar char="•"/>
            </a:pP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581" spc="232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max_features</a:t>
            </a: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Número de características consideradas para a melhor divisão, podendo ser auto, sqrt ou log2.</a:t>
            </a:r>
          </a:p>
          <a:p>
            <a:pPr algn="l" marL="341358" indent="-170679" lvl="1">
              <a:lnSpc>
                <a:spcPts val="1865"/>
              </a:lnSpc>
              <a:buFont typeface="Arial"/>
              <a:buChar char="•"/>
            </a:pP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581" spc="232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max_depth</a:t>
            </a: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Profundidade máxima das árvores, variando de 1 a 20.</a:t>
            </a:r>
          </a:p>
          <a:p>
            <a:pPr algn="l" marL="341358" indent="-170679" lvl="1">
              <a:lnSpc>
                <a:spcPts val="1865"/>
              </a:lnSpc>
              <a:buFont typeface="Arial"/>
              <a:buChar char="•"/>
            </a:pP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581" spc="232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min_samples_split</a:t>
            </a: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Número mínimo de amostras requeridas para dividir um nó, variando de 2 a 20.</a:t>
            </a:r>
          </a:p>
          <a:p>
            <a:pPr algn="l" marL="341358" indent="-170679" lvl="1">
              <a:lnSpc>
                <a:spcPts val="1865"/>
              </a:lnSpc>
              <a:buFont typeface="Arial"/>
              <a:buChar char="•"/>
            </a:pP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581" spc="232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min_samples_leaf</a:t>
            </a: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Número mínimo de amostras requeridas para estar em um nó folha, variando de 1 a 20.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81993" y="3955899"/>
            <a:ext cx="6639596" cy="2314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1413" indent="-170706" lvl="1">
              <a:lnSpc>
                <a:spcPts val="1865"/>
              </a:lnSpc>
              <a:buFont typeface="Arial"/>
              <a:buChar char="•"/>
            </a:pP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581" spc="232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hidden_layer_sizes</a:t>
            </a: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Tamanho das camadas ocultas, variando de pequenas (10, 10) a grandes (100, 100).</a:t>
            </a:r>
          </a:p>
          <a:p>
            <a:pPr algn="l" marL="341413" indent="-170706" lvl="1">
              <a:lnSpc>
                <a:spcPts val="1865"/>
              </a:lnSpc>
              <a:buFont typeface="Arial"/>
              <a:buChar char="•"/>
            </a:pP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581" spc="232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activation</a:t>
            </a: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Função de ativação, podendo ser relu, tanh ou logistic.</a:t>
            </a:r>
          </a:p>
          <a:p>
            <a:pPr algn="l" marL="341413" indent="-170706" lvl="1">
              <a:lnSpc>
                <a:spcPts val="1865"/>
              </a:lnSpc>
              <a:buFont typeface="Arial"/>
              <a:buChar char="•"/>
            </a:pP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581" spc="232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solver</a:t>
            </a: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Algoritmo de otimização, podendo ser adam, sgd ou lbfgs.</a:t>
            </a:r>
          </a:p>
          <a:p>
            <a:pPr algn="l" marL="341413" indent="-170706" lvl="1">
              <a:lnSpc>
                <a:spcPts val="1865"/>
              </a:lnSpc>
              <a:buFont typeface="Arial"/>
              <a:buChar char="•"/>
            </a:pP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581" spc="232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alpha</a:t>
            </a: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Parâmetro de regularização L2, variando em uma escala logarítmica de 1e-5 a 1e-3.</a:t>
            </a:r>
          </a:p>
          <a:p>
            <a:pPr algn="l" marL="341413" indent="-170706" lvl="1">
              <a:lnSpc>
                <a:spcPts val="1865"/>
              </a:lnSpc>
              <a:buFont typeface="Arial"/>
              <a:buChar char="•"/>
            </a:pP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581" spc="232">
                <a:solidFill>
                  <a:srgbClr val="211F1C"/>
                </a:solidFill>
                <a:latin typeface="Roboto Bold"/>
                <a:ea typeface="Roboto Bold"/>
                <a:cs typeface="Roboto Bold"/>
                <a:sym typeface="Roboto Bold"/>
              </a:rPr>
              <a:t>learning_rate</a:t>
            </a:r>
            <a:r>
              <a:rPr lang="en-US" sz="1581" spc="232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: Taxa de aprendizado, podendo ser constant, invscaling ou adaptive.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06914" y="8511587"/>
            <a:ext cx="6615386" cy="93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168" indent="-170084" lvl="1">
              <a:lnSpc>
                <a:spcPts val="1859"/>
              </a:lnSpc>
              <a:buFont typeface="Arial"/>
              <a:buChar char="•"/>
            </a:pPr>
            <a:r>
              <a:rPr lang="en-US" sz="1575" spc="231">
                <a:solidFill>
                  <a:srgbClr val="211F1C"/>
                </a:solidFill>
                <a:latin typeface="Roboto"/>
                <a:ea typeface="Roboto"/>
                <a:cs typeface="Roboto"/>
                <a:sym typeface="Roboto"/>
              </a:rPr>
              <a:t>Considerando os mesmos parâmetros que foram utilizados em seus respectivos modelos individuais, mas com um espaço de possibilidades reduzido para diminuir o custo d processamento.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168797" y="1962151"/>
            <a:ext cx="13950407" cy="7440217"/>
          </a:xfrm>
          <a:custGeom>
            <a:avLst/>
            <a:gdLst/>
            <a:ahLst/>
            <a:cxnLst/>
            <a:rect r="r" b="b" t="t" l="l"/>
            <a:pathLst>
              <a:path h="7440217" w="13950407">
                <a:moveTo>
                  <a:pt x="0" y="0"/>
                </a:moveTo>
                <a:lnTo>
                  <a:pt x="13950406" y="0"/>
                </a:lnTo>
                <a:lnTo>
                  <a:pt x="13950406" y="7440217"/>
                </a:lnTo>
                <a:lnTo>
                  <a:pt x="0" y="74402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06451" y="997582"/>
            <a:ext cx="12275098" cy="65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80"/>
              </a:lnSpc>
              <a:spcBef>
                <a:spcPct val="0"/>
              </a:spcBef>
            </a:pPr>
            <a:r>
              <a:rPr lang="en-US" sz="4831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GRÁFICOS COMPARATIVOS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673303" y="8642628"/>
            <a:ext cx="2843773" cy="759740"/>
            <a:chOff x="0" y="0"/>
            <a:chExt cx="740766" cy="1979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0766" cy="197902"/>
            </a:xfrm>
            <a:custGeom>
              <a:avLst/>
              <a:gdLst/>
              <a:ahLst/>
              <a:cxnLst/>
              <a:rect r="r" b="b" t="t" l="l"/>
              <a:pathLst>
                <a:path h="197902" w="740766">
                  <a:moveTo>
                    <a:pt x="98007" y="0"/>
                  </a:moveTo>
                  <a:lnTo>
                    <a:pt x="642759" y="0"/>
                  </a:lnTo>
                  <a:cubicBezTo>
                    <a:pt x="696887" y="0"/>
                    <a:pt x="740766" y="43879"/>
                    <a:pt x="740766" y="98007"/>
                  </a:cubicBezTo>
                  <a:lnTo>
                    <a:pt x="740766" y="99896"/>
                  </a:lnTo>
                  <a:cubicBezTo>
                    <a:pt x="740766" y="125889"/>
                    <a:pt x="730440" y="150817"/>
                    <a:pt x="712060" y="169197"/>
                  </a:cubicBezTo>
                  <a:cubicBezTo>
                    <a:pt x="693681" y="187577"/>
                    <a:pt x="668752" y="197902"/>
                    <a:pt x="642759" y="197902"/>
                  </a:cubicBezTo>
                  <a:lnTo>
                    <a:pt x="98007" y="197902"/>
                  </a:lnTo>
                  <a:cubicBezTo>
                    <a:pt x="43879" y="197902"/>
                    <a:pt x="0" y="154023"/>
                    <a:pt x="0" y="99896"/>
                  </a:cubicBezTo>
                  <a:lnTo>
                    <a:pt x="0" y="98007"/>
                  </a:lnTo>
                  <a:cubicBezTo>
                    <a:pt x="0" y="43879"/>
                    <a:pt x="43879" y="0"/>
                    <a:pt x="98007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40766" cy="23600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CONJUNTO DE VALIDAÇÃO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935313" y="2028919"/>
            <a:ext cx="14417374" cy="7689266"/>
          </a:xfrm>
          <a:custGeom>
            <a:avLst/>
            <a:gdLst/>
            <a:ahLst/>
            <a:cxnLst/>
            <a:rect r="r" b="b" t="t" l="l"/>
            <a:pathLst>
              <a:path h="7689266" w="14417374">
                <a:moveTo>
                  <a:pt x="0" y="0"/>
                </a:moveTo>
                <a:lnTo>
                  <a:pt x="14417374" y="0"/>
                </a:lnTo>
                <a:lnTo>
                  <a:pt x="14417374" y="7689266"/>
                </a:lnTo>
                <a:lnTo>
                  <a:pt x="0" y="7689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06451" y="997582"/>
            <a:ext cx="12275098" cy="65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80"/>
              </a:lnSpc>
              <a:spcBef>
                <a:spcPct val="0"/>
              </a:spcBef>
            </a:pPr>
            <a:r>
              <a:rPr lang="en-US" sz="4831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GRÁFICOS COMPARATIVOS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415527" y="8958445"/>
            <a:ext cx="2843773" cy="759740"/>
            <a:chOff x="0" y="0"/>
            <a:chExt cx="740766" cy="1979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0766" cy="197902"/>
            </a:xfrm>
            <a:custGeom>
              <a:avLst/>
              <a:gdLst/>
              <a:ahLst/>
              <a:cxnLst/>
              <a:rect r="r" b="b" t="t" l="l"/>
              <a:pathLst>
                <a:path h="197902" w="740766">
                  <a:moveTo>
                    <a:pt x="98007" y="0"/>
                  </a:moveTo>
                  <a:lnTo>
                    <a:pt x="642759" y="0"/>
                  </a:lnTo>
                  <a:cubicBezTo>
                    <a:pt x="696887" y="0"/>
                    <a:pt x="740766" y="43879"/>
                    <a:pt x="740766" y="98007"/>
                  </a:cubicBezTo>
                  <a:lnTo>
                    <a:pt x="740766" y="99896"/>
                  </a:lnTo>
                  <a:cubicBezTo>
                    <a:pt x="740766" y="125889"/>
                    <a:pt x="730440" y="150817"/>
                    <a:pt x="712060" y="169197"/>
                  </a:cubicBezTo>
                  <a:cubicBezTo>
                    <a:pt x="693681" y="187577"/>
                    <a:pt x="668752" y="197902"/>
                    <a:pt x="642759" y="197902"/>
                  </a:cubicBezTo>
                  <a:lnTo>
                    <a:pt x="98007" y="197902"/>
                  </a:lnTo>
                  <a:cubicBezTo>
                    <a:pt x="43879" y="197902"/>
                    <a:pt x="0" y="154023"/>
                    <a:pt x="0" y="99896"/>
                  </a:cubicBezTo>
                  <a:lnTo>
                    <a:pt x="0" y="98007"/>
                  </a:lnTo>
                  <a:cubicBezTo>
                    <a:pt x="0" y="43879"/>
                    <a:pt x="43879" y="0"/>
                    <a:pt x="98007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40766" cy="23600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CONJUNTO DE TESTE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998320" y="1814794"/>
            <a:ext cx="11472975" cy="7648650"/>
          </a:xfrm>
          <a:custGeom>
            <a:avLst/>
            <a:gdLst/>
            <a:ahLst/>
            <a:cxnLst/>
            <a:rect r="r" b="b" t="t" l="l"/>
            <a:pathLst>
              <a:path h="7648650" w="11472975">
                <a:moveTo>
                  <a:pt x="0" y="0"/>
                </a:moveTo>
                <a:lnTo>
                  <a:pt x="11472975" y="0"/>
                </a:lnTo>
                <a:lnTo>
                  <a:pt x="11472975" y="7648650"/>
                </a:lnTo>
                <a:lnTo>
                  <a:pt x="0" y="7648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06451" y="997582"/>
            <a:ext cx="12275098" cy="65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80"/>
              </a:lnSpc>
              <a:spcBef>
                <a:spcPct val="0"/>
              </a:spcBef>
            </a:pPr>
            <a:r>
              <a:rPr lang="en-US" sz="4831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GRÁFICOS COMPARATIVOS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998937" y="2093732"/>
            <a:ext cx="10290127" cy="6499027"/>
          </a:xfrm>
          <a:custGeom>
            <a:avLst/>
            <a:gdLst/>
            <a:ahLst/>
            <a:cxnLst/>
            <a:rect r="r" b="b" t="t" l="l"/>
            <a:pathLst>
              <a:path h="6499027" w="10290127">
                <a:moveTo>
                  <a:pt x="0" y="0"/>
                </a:moveTo>
                <a:lnTo>
                  <a:pt x="10290126" y="0"/>
                </a:lnTo>
                <a:lnTo>
                  <a:pt x="10290126" y="6499028"/>
                </a:lnTo>
                <a:lnTo>
                  <a:pt x="0" y="64990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06451" y="1114425"/>
            <a:ext cx="12275098" cy="65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80"/>
              </a:lnSpc>
              <a:spcBef>
                <a:spcPct val="0"/>
              </a:spcBef>
            </a:pPr>
            <a:r>
              <a:rPr lang="en-US" sz="4831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TESTE ESTATÍSTICO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996314" y="7702007"/>
            <a:ext cx="4142830" cy="1195883"/>
            <a:chOff x="0" y="0"/>
            <a:chExt cx="1079153" cy="3115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9153" cy="311512"/>
            </a:xfrm>
            <a:custGeom>
              <a:avLst/>
              <a:gdLst/>
              <a:ahLst/>
              <a:cxnLst/>
              <a:rect r="r" b="b" t="t" l="l"/>
              <a:pathLst>
                <a:path h="311512" w="1079153">
                  <a:moveTo>
                    <a:pt x="67275" y="0"/>
                  </a:moveTo>
                  <a:lnTo>
                    <a:pt x="1011878" y="0"/>
                  </a:lnTo>
                  <a:cubicBezTo>
                    <a:pt x="1029721" y="0"/>
                    <a:pt x="1046832" y="7088"/>
                    <a:pt x="1059449" y="19704"/>
                  </a:cubicBezTo>
                  <a:cubicBezTo>
                    <a:pt x="1072065" y="32321"/>
                    <a:pt x="1079153" y="49433"/>
                    <a:pt x="1079153" y="67275"/>
                  </a:cubicBezTo>
                  <a:lnTo>
                    <a:pt x="1079153" y="244237"/>
                  </a:lnTo>
                  <a:cubicBezTo>
                    <a:pt x="1079153" y="262079"/>
                    <a:pt x="1072065" y="279191"/>
                    <a:pt x="1059449" y="291808"/>
                  </a:cubicBezTo>
                  <a:cubicBezTo>
                    <a:pt x="1046832" y="304424"/>
                    <a:pt x="1029721" y="311512"/>
                    <a:pt x="1011878" y="311512"/>
                  </a:cubicBezTo>
                  <a:lnTo>
                    <a:pt x="67275" y="311512"/>
                  </a:lnTo>
                  <a:cubicBezTo>
                    <a:pt x="49433" y="311512"/>
                    <a:pt x="32321" y="304424"/>
                    <a:pt x="19704" y="291808"/>
                  </a:cubicBezTo>
                  <a:cubicBezTo>
                    <a:pt x="7088" y="279191"/>
                    <a:pt x="0" y="262079"/>
                    <a:pt x="0" y="244237"/>
                  </a:cubicBezTo>
                  <a:lnTo>
                    <a:pt x="0" y="67275"/>
                  </a:lnTo>
                  <a:cubicBezTo>
                    <a:pt x="0" y="49433"/>
                    <a:pt x="7088" y="32321"/>
                    <a:pt x="19704" y="19704"/>
                  </a:cubicBezTo>
                  <a:cubicBezTo>
                    <a:pt x="32321" y="7088"/>
                    <a:pt x="49433" y="0"/>
                    <a:pt x="67275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79153" cy="34961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 HIPÓTESE NULA FOI REJEITADA, LOGO OS CLASSIFICADORES TÊM RESULTADOS DIFERENTES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067417" y="2695643"/>
            <a:ext cx="4957039" cy="1216273"/>
            <a:chOff x="0" y="0"/>
            <a:chExt cx="1291244" cy="316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1244" cy="316823"/>
            </a:xfrm>
            <a:custGeom>
              <a:avLst/>
              <a:gdLst/>
              <a:ahLst/>
              <a:cxnLst/>
              <a:rect r="r" b="b" t="t" l="l"/>
              <a:pathLst>
                <a:path h="316823" w="1291244">
                  <a:moveTo>
                    <a:pt x="56225" y="0"/>
                  </a:moveTo>
                  <a:lnTo>
                    <a:pt x="1235019" y="0"/>
                  </a:lnTo>
                  <a:cubicBezTo>
                    <a:pt x="1266071" y="0"/>
                    <a:pt x="1291244" y="25173"/>
                    <a:pt x="1291244" y="56225"/>
                  </a:cubicBezTo>
                  <a:lnTo>
                    <a:pt x="1291244" y="260598"/>
                  </a:lnTo>
                  <a:cubicBezTo>
                    <a:pt x="1291244" y="291650"/>
                    <a:pt x="1266071" y="316823"/>
                    <a:pt x="1235019" y="316823"/>
                  </a:cubicBezTo>
                  <a:lnTo>
                    <a:pt x="56225" y="316823"/>
                  </a:lnTo>
                  <a:cubicBezTo>
                    <a:pt x="25173" y="316823"/>
                    <a:pt x="0" y="291650"/>
                    <a:pt x="0" y="260598"/>
                  </a:cubicBezTo>
                  <a:lnTo>
                    <a:pt x="0" y="56225"/>
                  </a:lnTo>
                  <a:cubicBezTo>
                    <a:pt x="0" y="25173"/>
                    <a:pt x="25173" y="0"/>
                    <a:pt x="56225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1244" cy="354923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 O SVM APRESENTOU OS MELHORES RESULTADOS EM TODAS AS MÉTRICAS AVALIADAS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960666" y="2407403"/>
            <a:ext cx="7396878" cy="6178120"/>
          </a:xfrm>
          <a:custGeom>
            <a:avLst/>
            <a:gdLst/>
            <a:ahLst/>
            <a:cxnLst/>
            <a:rect r="r" b="b" t="t" l="l"/>
            <a:pathLst>
              <a:path h="6178120" w="7396878">
                <a:moveTo>
                  <a:pt x="0" y="0"/>
                </a:moveTo>
                <a:lnTo>
                  <a:pt x="7396878" y="0"/>
                </a:lnTo>
                <a:lnTo>
                  <a:pt x="7396878" y="6178120"/>
                </a:lnTo>
                <a:lnTo>
                  <a:pt x="0" y="6178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7938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066805" y="4239211"/>
            <a:ext cx="6712022" cy="2517950"/>
          </a:xfrm>
          <a:custGeom>
            <a:avLst/>
            <a:gdLst/>
            <a:ahLst/>
            <a:cxnLst/>
            <a:rect r="r" b="b" t="t" l="l"/>
            <a:pathLst>
              <a:path h="2517950" w="6712022">
                <a:moveTo>
                  <a:pt x="0" y="0"/>
                </a:moveTo>
                <a:lnTo>
                  <a:pt x="6712022" y="0"/>
                </a:lnTo>
                <a:lnTo>
                  <a:pt x="6712022" y="2517950"/>
                </a:lnTo>
                <a:lnTo>
                  <a:pt x="0" y="2517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68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06451" y="1114425"/>
            <a:ext cx="12275098" cy="65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80"/>
              </a:lnSpc>
              <a:spcBef>
                <a:spcPct val="0"/>
              </a:spcBef>
            </a:pPr>
            <a:r>
              <a:rPr lang="en-US" sz="4831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ESCOLHA DO MELHOR MODELO: SVM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595842" y="7081011"/>
            <a:ext cx="5900190" cy="1216273"/>
            <a:chOff x="0" y="0"/>
            <a:chExt cx="1536923" cy="3168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36923" cy="316823"/>
            </a:xfrm>
            <a:custGeom>
              <a:avLst/>
              <a:gdLst/>
              <a:ahLst/>
              <a:cxnLst/>
              <a:rect r="r" b="b" t="t" l="l"/>
              <a:pathLst>
                <a:path h="316823" w="1536923">
                  <a:moveTo>
                    <a:pt x="47237" y="0"/>
                  </a:moveTo>
                  <a:lnTo>
                    <a:pt x="1489685" y="0"/>
                  </a:lnTo>
                  <a:cubicBezTo>
                    <a:pt x="1515774" y="0"/>
                    <a:pt x="1536923" y="21149"/>
                    <a:pt x="1536923" y="47237"/>
                  </a:cubicBezTo>
                  <a:lnTo>
                    <a:pt x="1536923" y="269586"/>
                  </a:lnTo>
                  <a:cubicBezTo>
                    <a:pt x="1536923" y="295674"/>
                    <a:pt x="1515774" y="316823"/>
                    <a:pt x="1489685" y="316823"/>
                  </a:cubicBezTo>
                  <a:lnTo>
                    <a:pt x="47237" y="316823"/>
                  </a:lnTo>
                  <a:cubicBezTo>
                    <a:pt x="21149" y="316823"/>
                    <a:pt x="0" y="295674"/>
                    <a:pt x="0" y="269586"/>
                  </a:cubicBezTo>
                  <a:lnTo>
                    <a:pt x="0" y="47237"/>
                  </a:lnTo>
                  <a:cubicBezTo>
                    <a:pt x="0" y="21149"/>
                    <a:pt x="21149" y="0"/>
                    <a:pt x="47237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36923" cy="354923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116"/>
                </a:lnSpc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MELHORES PARÂMETROS:</a:t>
              </a:r>
            </a:p>
            <a:p>
              <a:pPr algn="ctr">
                <a:lnSpc>
                  <a:spcPts val="2116"/>
                </a:lnSpc>
                <a:spcBef>
                  <a:spcPct val="0"/>
                </a:spcBef>
              </a:pPr>
              <a:r>
                <a:rPr lang="en-US" b="true" sz="1439" spc="211">
                  <a:solidFill>
                    <a:srgbClr val="FFFFFF"/>
                  </a:solidFill>
                  <a:latin typeface="Nunito Sans Expanded Semi-Bold"/>
                  <a:ea typeface="Nunito Sans Expanded Semi-Bold"/>
                  <a:cs typeface="Nunito Sans Expanded Semi-Bold"/>
                  <a:sym typeface="Nunito Sans Expanded Semi-Bold"/>
                </a:rPr>
                <a:t>{'KERNEL': 'RBF', 'GAMMA': 1.0, 'C': 100.0}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515924" y="3836930"/>
            <a:ext cx="13256151" cy="2813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4"/>
              </a:lnSpc>
            </a:pPr>
            <a:r>
              <a:rPr lang="en-US" sz="10736">
                <a:solidFill>
                  <a:srgbClr val="004AAD"/>
                </a:solidFill>
                <a:latin typeface="Anton"/>
                <a:ea typeface="Anton"/>
                <a:cs typeface="Anton"/>
                <a:sym typeface="Anton"/>
              </a:rPr>
              <a:t>QUINTA ETAPA: </a:t>
            </a:r>
          </a:p>
          <a:p>
            <a:pPr algn="ctr" marL="0" indent="0" lvl="0">
              <a:lnSpc>
                <a:spcPts val="10844"/>
              </a:lnSpc>
              <a:spcBef>
                <a:spcPct val="0"/>
              </a:spcBef>
            </a:pPr>
            <a:r>
              <a:rPr lang="en-US" sz="10736">
                <a:solidFill>
                  <a:srgbClr val="004AAD"/>
                </a:solidFill>
                <a:latin typeface="Anton"/>
                <a:ea typeface="Anton"/>
                <a:cs typeface="Anton"/>
                <a:sym typeface="Anton"/>
              </a:rPr>
              <a:t>EVALUATION 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817238"/>
            <a:ext cx="5965581" cy="65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80"/>
              </a:lnSpc>
              <a:spcBef>
                <a:spcPct val="0"/>
              </a:spcBef>
            </a:pPr>
            <a:r>
              <a:rPr lang="en-US" sz="4831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RESUMO DO QUE FOI FEITO:</a:t>
            </a:r>
          </a:p>
        </p:txBody>
      </p:sp>
      <p:sp>
        <p:nvSpPr>
          <p:cNvPr name="AutoShape 6" id="6"/>
          <p:cNvSpPr/>
          <p:nvPr/>
        </p:nvSpPr>
        <p:spPr>
          <a:xfrm>
            <a:off x="-2626987" y="7328236"/>
            <a:ext cx="23541974" cy="0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>
            <a:off x="2732346" y="6542595"/>
            <a:ext cx="0" cy="796637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19396" y="3453471"/>
            <a:ext cx="3825900" cy="3089124"/>
            <a:chOff x="0" y="0"/>
            <a:chExt cx="872834" cy="7047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2834" cy="704747"/>
            </a:xfrm>
            <a:custGeom>
              <a:avLst/>
              <a:gdLst/>
              <a:ahLst/>
              <a:cxnLst/>
              <a:rect r="r" b="b" t="t" l="l"/>
              <a:pathLst>
                <a:path h="704747" w="872834">
                  <a:moveTo>
                    <a:pt x="72848" y="0"/>
                  </a:moveTo>
                  <a:lnTo>
                    <a:pt x="799986" y="0"/>
                  </a:lnTo>
                  <a:cubicBezTo>
                    <a:pt x="819306" y="0"/>
                    <a:pt x="837835" y="7675"/>
                    <a:pt x="851497" y="21337"/>
                  </a:cubicBezTo>
                  <a:cubicBezTo>
                    <a:pt x="865159" y="34998"/>
                    <a:pt x="872834" y="53527"/>
                    <a:pt x="872834" y="72848"/>
                  </a:cubicBezTo>
                  <a:lnTo>
                    <a:pt x="872834" y="631899"/>
                  </a:lnTo>
                  <a:cubicBezTo>
                    <a:pt x="872834" y="651219"/>
                    <a:pt x="865159" y="669749"/>
                    <a:pt x="851497" y="683410"/>
                  </a:cubicBezTo>
                  <a:cubicBezTo>
                    <a:pt x="837835" y="697072"/>
                    <a:pt x="819306" y="704747"/>
                    <a:pt x="799986" y="704747"/>
                  </a:cubicBezTo>
                  <a:lnTo>
                    <a:pt x="72848" y="704747"/>
                  </a:lnTo>
                  <a:cubicBezTo>
                    <a:pt x="53527" y="704747"/>
                    <a:pt x="34998" y="697072"/>
                    <a:pt x="21337" y="683410"/>
                  </a:cubicBezTo>
                  <a:cubicBezTo>
                    <a:pt x="7675" y="669749"/>
                    <a:pt x="0" y="651219"/>
                    <a:pt x="0" y="631899"/>
                  </a:cubicBezTo>
                  <a:lnTo>
                    <a:pt x="0" y="72848"/>
                  </a:lnTo>
                  <a:cubicBezTo>
                    <a:pt x="0" y="53527"/>
                    <a:pt x="7675" y="34998"/>
                    <a:pt x="21337" y="21337"/>
                  </a:cubicBezTo>
                  <a:cubicBezTo>
                    <a:pt x="34998" y="7675"/>
                    <a:pt x="53527" y="0"/>
                    <a:pt x="72848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28705" y="4170303"/>
            <a:ext cx="2007282" cy="1642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6"/>
              </a:lnSpc>
            </a:pPr>
            <a:r>
              <a:rPr lang="en-US" sz="2799" spc="279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AVALIAÇÃO DETALHADA DO MODELO ESCOLHIDO</a:t>
            </a:r>
          </a:p>
        </p:txBody>
      </p:sp>
      <p:sp>
        <p:nvSpPr>
          <p:cNvPr name="AutoShape 12" id="12"/>
          <p:cNvSpPr/>
          <p:nvPr/>
        </p:nvSpPr>
        <p:spPr>
          <a:xfrm flipH="true">
            <a:off x="7051697" y="6531599"/>
            <a:ext cx="0" cy="796637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5138747" y="3442475"/>
            <a:ext cx="3825900" cy="3089124"/>
            <a:chOff x="0" y="0"/>
            <a:chExt cx="872834" cy="7047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2834" cy="704747"/>
            </a:xfrm>
            <a:custGeom>
              <a:avLst/>
              <a:gdLst/>
              <a:ahLst/>
              <a:cxnLst/>
              <a:rect r="r" b="b" t="t" l="l"/>
              <a:pathLst>
                <a:path h="704747" w="872834">
                  <a:moveTo>
                    <a:pt x="72848" y="0"/>
                  </a:moveTo>
                  <a:lnTo>
                    <a:pt x="799986" y="0"/>
                  </a:lnTo>
                  <a:cubicBezTo>
                    <a:pt x="819306" y="0"/>
                    <a:pt x="837835" y="7675"/>
                    <a:pt x="851497" y="21337"/>
                  </a:cubicBezTo>
                  <a:cubicBezTo>
                    <a:pt x="865159" y="34998"/>
                    <a:pt x="872834" y="53527"/>
                    <a:pt x="872834" y="72848"/>
                  </a:cubicBezTo>
                  <a:lnTo>
                    <a:pt x="872834" y="631899"/>
                  </a:lnTo>
                  <a:cubicBezTo>
                    <a:pt x="872834" y="651219"/>
                    <a:pt x="865159" y="669749"/>
                    <a:pt x="851497" y="683410"/>
                  </a:cubicBezTo>
                  <a:cubicBezTo>
                    <a:pt x="837835" y="697072"/>
                    <a:pt x="819306" y="704747"/>
                    <a:pt x="799986" y="704747"/>
                  </a:cubicBezTo>
                  <a:lnTo>
                    <a:pt x="72848" y="704747"/>
                  </a:lnTo>
                  <a:cubicBezTo>
                    <a:pt x="53527" y="704747"/>
                    <a:pt x="34998" y="697072"/>
                    <a:pt x="21337" y="683410"/>
                  </a:cubicBezTo>
                  <a:cubicBezTo>
                    <a:pt x="7675" y="669749"/>
                    <a:pt x="0" y="651219"/>
                    <a:pt x="0" y="631899"/>
                  </a:cubicBezTo>
                  <a:lnTo>
                    <a:pt x="0" y="72848"/>
                  </a:lnTo>
                  <a:cubicBezTo>
                    <a:pt x="0" y="53527"/>
                    <a:pt x="7675" y="34998"/>
                    <a:pt x="21337" y="21337"/>
                  </a:cubicBezTo>
                  <a:cubicBezTo>
                    <a:pt x="34998" y="7675"/>
                    <a:pt x="53527" y="0"/>
                    <a:pt x="72848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654980" y="4325813"/>
            <a:ext cx="2793434" cy="132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02" spc="280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ENTENDIMENTO DA IMPORTÂNCIA DAS FEATURES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1371048" y="6531599"/>
            <a:ext cx="0" cy="796637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9458097" y="3442475"/>
            <a:ext cx="3825900" cy="3089124"/>
            <a:chOff x="0" y="0"/>
            <a:chExt cx="872834" cy="7047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72834" cy="704747"/>
            </a:xfrm>
            <a:custGeom>
              <a:avLst/>
              <a:gdLst/>
              <a:ahLst/>
              <a:cxnLst/>
              <a:rect r="r" b="b" t="t" l="l"/>
              <a:pathLst>
                <a:path h="704747" w="872834">
                  <a:moveTo>
                    <a:pt x="72848" y="0"/>
                  </a:moveTo>
                  <a:lnTo>
                    <a:pt x="799986" y="0"/>
                  </a:lnTo>
                  <a:cubicBezTo>
                    <a:pt x="819306" y="0"/>
                    <a:pt x="837835" y="7675"/>
                    <a:pt x="851497" y="21337"/>
                  </a:cubicBezTo>
                  <a:cubicBezTo>
                    <a:pt x="865159" y="34998"/>
                    <a:pt x="872834" y="53527"/>
                    <a:pt x="872834" y="72848"/>
                  </a:cubicBezTo>
                  <a:lnTo>
                    <a:pt x="872834" y="631899"/>
                  </a:lnTo>
                  <a:cubicBezTo>
                    <a:pt x="872834" y="651219"/>
                    <a:pt x="865159" y="669749"/>
                    <a:pt x="851497" y="683410"/>
                  </a:cubicBezTo>
                  <a:cubicBezTo>
                    <a:pt x="837835" y="697072"/>
                    <a:pt x="819306" y="704747"/>
                    <a:pt x="799986" y="704747"/>
                  </a:cubicBezTo>
                  <a:lnTo>
                    <a:pt x="72848" y="704747"/>
                  </a:lnTo>
                  <a:cubicBezTo>
                    <a:pt x="53527" y="704747"/>
                    <a:pt x="34998" y="697072"/>
                    <a:pt x="21337" y="683410"/>
                  </a:cubicBezTo>
                  <a:cubicBezTo>
                    <a:pt x="7675" y="669749"/>
                    <a:pt x="0" y="651219"/>
                    <a:pt x="0" y="631899"/>
                  </a:cubicBezTo>
                  <a:lnTo>
                    <a:pt x="0" y="72848"/>
                  </a:lnTo>
                  <a:cubicBezTo>
                    <a:pt x="0" y="53527"/>
                    <a:pt x="7675" y="34998"/>
                    <a:pt x="21337" y="21337"/>
                  </a:cubicBezTo>
                  <a:cubicBezTo>
                    <a:pt x="34998" y="7675"/>
                    <a:pt x="53527" y="0"/>
                    <a:pt x="72848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407870" y="4312893"/>
            <a:ext cx="1926354" cy="1329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</a:pPr>
            <a:r>
              <a:rPr lang="en-US" sz="2811" spc="281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DESCRIÇÃO DO DEPLOY DO MODELO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5690398" y="6531599"/>
            <a:ext cx="0" cy="796637"/>
          </a:xfrm>
          <a:prstGeom prst="line">
            <a:avLst/>
          </a:prstGeom>
          <a:ln cap="flat" w="19050">
            <a:solidFill>
              <a:srgbClr val="211F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3777448" y="3442475"/>
            <a:ext cx="3825900" cy="3089124"/>
            <a:chOff x="0" y="0"/>
            <a:chExt cx="872834" cy="7047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72834" cy="704747"/>
            </a:xfrm>
            <a:custGeom>
              <a:avLst/>
              <a:gdLst/>
              <a:ahLst/>
              <a:cxnLst/>
              <a:rect r="r" b="b" t="t" l="l"/>
              <a:pathLst>
                <a:path h="704747" w="872834">
                  <a:moveTo>
                    <a:pt x="72848" y="0"/>
                  </a:moveTo>
                  <a:lnTo>
                    <a:pt x="799986" y="0"/>
                  </a:lnTo>
                  <a:cubicBezTo>
                    <a:pt x="819306" y="0"/>
                    <a:pt x="837835" y="7675"/>
                    <a:pt x="851497" y="21337"/>
                  </a:cubicBezTo>
                  <a:cubicBezTo>
                    <a:pt x="865159" y="34998"/>
                    <a:pt x="872834" y="53527"/>
                    <a:pt x="872834" y="72848"/>
                  </a:cubicBezTo>
                  <a:lnTo>
                    <a:pt x="872834" y="631899"/>
                  </a:lnTo>
                  <a:cubicBezTo>
                    <a:pt x="872834" y="651219"/>
                    <a:pt x="865159" y="669749"/>
                    <a:pt x="851497" y="683410"/>
                  </a:cubicBezTo>
                  <a:cubicBezTo>
                    <a:pt x="837835" y="697072"/>
                    <a:pt x="819306" y="704747"/>
                    <a:pt x="799986" y="704747"/>
                  </a:cubicBezTo>
                  <a:lnTo>
                    <a:pt x="72848" y="704747"/>
                  </a:lnTo>
                  <a:cubicBezTo>
                    <a:pt x="53527" y="704747"/>
                    <a:pt x="34998" y="697072"/>
                    <a:pt x="21337" y="683410"/>
                  </a:cubicBezTo>
                  <a:cubicBezTo>
                    <a:pt x="7675" y="669749"/>
                    <a:pt x="0" y="651219"/>
                    <a:pt x="0" y="631899"/>
                  </a:cubicBezTo>
                  <a:lnTo>
                    <a:pt x="0" y="72848"/>
                  </a:lnTo>
                  <a:cubicBezTo>
                    <a:pt x="0" y="53527"/>
                    <a:pt x="7675" y="34998"/>
                    <a:pt x="21337" y="21337"/>
                  </a:cubicBezTo>
                  <a:cubicBezTo>
                    <a:pt x="34998" y="7675"/>
                    <a:pt x="53527" y="0"/>
                    <a:pt x="72848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anchor="ctr" rtlCol="false" tIns="58646" lIns="58646" bIns="58646" rIns="58646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451342" y="4411262"/>
            <a:ext cx="2675696" cy="1239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3"/>
              </a:lnSpc>
            </a:pPr>
            <a:r>
              <a:rPr lang="en-US" sz="2763" spc="276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REFLEXÕES CRÍTICAS E CONCLUSÕES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162847" y="810383"/>
            <a:ext cx="7962306" cy="657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26"/>
              </a:lnSpc>
              <a:spcBef>
                <a:spcPct val="0"/>
              </a:spcBef>
            </a:pPr>
            <a:r>
              <a:rPr lang="en-US" sz="4877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DESCRIÇÃO DO DEPLOY DO MODELO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67957"/>
            <a:ext cx="6983100" cy="457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75"/>
              </a:lnSpc>
              <a:spcBef>
                <a:spcPct val="0"/>
              </a:spcBef>
            </a:pPr>
            <a:r>
              <a:rPr lang="en-US" sz="3441">
                <a:solidFill>
                  <a:srgbClr val="004AAD"/>
                </a:solidFill>
                <a:latin typeface="Anton"/>
                <a:ea typeface="Anton"/>
                <a:cs typeface="Anton"/>
                <a:sym typeface="Anton"/>
              </a:rPr>
              <a:t>PREPARAÇÃO DO AMBIENTE DE PRODUÇÃO: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977122"/>
            <a:ext cx="6983100" cy="221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8771" indent="-264386" lvl="1">
              <a:lnSpc>
                <a:spcPts val="2473"/>
              </a:lnSpc>
              <a:buFont typeface="Arial"/>
              <a:buChar char="•"/>
            </a:pPr>
            <a:r>
              <a:rPr lang="en-US" sz="244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AWS EC2: Configurar uma instância do Amazon EC2 para hospedar o ambiente de produção</a:t>
            </a:r>
          </a:p>
          <a:p>
            <a:pPr algn="l">
              <a:lnSpc>
                <a:spcPts val="2473"/>
              </a:lnSpc>
            </a:pPr>
          </a:p>
          <a:p>
            <a:pPr algn="l" marL="528771" indent="-264386" lvl="1">
              <a:lnSpc>
                <a:spcPts val="2473"/>
              </a:lnSpc>
              <a:spcBef>
                <a:spcPct val="0"/>
              </a:spcBef>
              <a:buFont typeface="Arial"/>
              <a:buChar char="•"/>
            </a:pPr>
            <a:r>
              <a:rPr lang="en-US" sz="244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AWS S3: Utilizar o Amazon S3 para armazenar o modelo treinado e qualquer dado necessário para o processo de inferência.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39360" y="2977122"/>
            <a:ext cx="7820786" cy="185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2530" indent="-261265" lvl="1">
              <a:lnSpc>
                <a:spcPts val="2444"/>
              </a:lnSpc>
              <a:buFont typeface="Arial"/>
              <a:buChar char="•"/>
            </a:pPr>
            <a:r>
              <a:rPr lang="en-US" sz="242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Utilizar joblib ou pickle para serializar (salvar) o modelo treinado, incluindo os melhores parâmetros encontrados (kernel='rbf', gamma=1.0, C=100.0).</a:t>
            </a:r>
          </a:p>
          <a:p>
            <a:pPr algn="l">
              <a:lnSpc>
                <a:spcPts val="2444"/>
              </a:lnSpc>
            </a:pPr>
          </a:p>
          <a:p>
            <a:pPr algn="l" marL="522530" indent="-261265" lvl="1">
              <a:lnSpc>
                <a:spcPts val="2444"/>
              </a:lnSpc>
              <a:spcBef>
                <a:spcPct val="0"/>
              </a:spcBef>
              <a:buFont typeface="Arial"/>
              <a:buChar char="•"/>
            </a:pPr>
            <a:r>
              <a:rPr lang="en-US" sz="242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Armazenar o modelo serializado no Amazon S3 para fácil acesso durante o deploy.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34808" y="2071209"/>
            <a:ext cx="4374644" cy="45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6"/>
              </a:lnSpc>
              <a:spcBef>
                <a:spcPct val="0"/>
              </a:spcBef>
            </a:pPr>
            <a:r>
              <a:rPr lang="en-US" sz="3441">
                <a:solidFill>
                  <a:srgbClr val="004AAD"/>
                </a:solidFill>
                <a:latin typeface="Anton"/>
                <a:ea typeface="Anton"/>
                <a:cs typeface="Anton"/>
                <a:sym typeface="Anton"/>
              </a:rPr>
              <a:t>SERIALIZAÇÃO DO MODELO: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793892"/>
            <a:ext cx="5161678" cy="45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6"/>
              </a:lnSpc>
              <a:spcBef>
                <a:spcPct val="0"/>
              </a:spcBef>
            </a:pPr>
            <a:r>
              <a:rPr lang="en-US" sz="3441">
                <a:solidFill>
                  <a:srgbClr val="004AAD"/>
                </a:solidFill>
                <a:latin typeface="Anton"/>
                <a:ea typeface="Anton"/>
                <a:cs typeface="Anton"/>
                <a:sym typeface="Anton"/>
              </a:rPr>
              <a:t>DESENVOLVIMENTO DE UMA API: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733357"/>
            <a:ext cx="7140507" cy="2524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8771" indent="-264386" lvl="1">
              <a:lnSpc>
                <a:spcPts val="2473"/>
              </a:lnSpc>
              <a:buFont typeface="Arial"/>
              <a:buChar char="•"/>
            </a:pPr>
            <a:r>
              <a:rPr lang="en-US" sz="244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AWS Lambda + API Gateway: Criar uma função AWS Lambda para carregar o modelo do S3 e realizar inferências. </a:t>
            </a:r>
          </a:p>
          <a:p>
            <a:pPr algn="l">
              <a:lnSpc>
                <a:spcPts val="2473"/>
              </a:lnSpc>
            </a:pPr>
          </a:p>
          <a:p>
            <a:pPr algn="l" marL="528771" indent="-264386" lvl="1">
              <a:lnSpc>
                <a:spcPts val="2473"/>
              </a:lnSpc>
              <a:buFont typeface="Arial"/>
              <a:buChar char="•"/>
            </a:pPr>
            <a:r>
              <a:rPr lang="en-US" sz="244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Implementar endpoints na API para receber dados de entrada, processá-los e retornar as previsões do modelo.</a:t>
            </a:r>
          </a:p>
          <a:p>
            <a:pPr algn="l">
              <a:lnSpc>
                <a:spcPts val="2473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734808" y="5793892"/>
            <a:ext cx="6645800" cy="45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6"/>
              </a:lnSpc>
              <a:spcBef>
                <a:spcPct val="0"/>
              </a:spcBef>
            </a:pPr>
            <a:r>
              <a:rPr lang="en-US" sz="3441">
                <a:solidFill>
                  <a:srgbClr val="004AAD"/>
                </a:solidFill>
                <a:latin typeface="Anton"/>
                <a:ea typeface="Anton"/>
                <a:cs typeface="Anton"/>
                <a:sym typeface="Anton"/>
              </a:rPr>
              <a:t>INTEGRAÇÃO COM SISTEMAS EXISTENTES: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39360" y="6696088"/>
            <a:ext cx="7232300" cy="221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8771" indent="-264386" lvl="1">
              <a:lnSpc>
                <a:spcPts val="2473"/>
              </a:lnSpc>
              <a:buFont typeface="Arial"/>
              <a:buChar char="•"/>
            </a:pPr>
            <a:r>
              <a:rPr lang="en-US" sz="244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Integrar a API ao sistema de TI da empresa de telecomunicações, permitindo que ela receba dados diretamente dos sistemas existentes.</a:t>
            </a:r>
          </a:p>
          <a:p>
            <a:pPr algn="l">
              <a:lnSpc>
                <a:spcPts val="2473"/>
              </a:lnSpc>
            </a:pPr>
          </a:p>
          <a:p>
            <a:pPr algn="l" marL="528771" indent="-264386" lvl="1">
              <a:lnSpc>
                <a:spcPts val="2473"/>
              </a:lnSpc>
              <a:spcBef>
                <a:spcPct val="0"/>
              </a:spcBef>
              <a:buFont typeface="Arial"/>
              <a:buChar char="•"/>
            </a:pPr>
            <a:r>
              <a:rPr lang="en-US" sz="244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Garantir que a API possa lidar com o volume de dados esperado e escalar conforme necessário, utilizando recursos como AWS Auto Scaling.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747524" y="1745777"/>
            <a:ext cx="10792953" cy="7707727"/>
          </a:xfrm>
          <a:custGeom>
            <a:avLst/>
            <a:gdLst/>
            <a:ahLst/>
            <a:cxnLst/>
            <a:rect r="r" b="b" t="t" l="l"/>
            <a:pathLst>
              <a:path h="7707727" w="10792953">
                <a:moveTo>
                  <a:pt x="0" y="0"/>
                </a:moveTo>
                <a:lnTo>
                  <a:pt x="10792952" y="0"/>
                </a:lnTo>
                <a:lnTo>
                  <a:pt x="10792952" y="7707727"/>
                </a:lnTo>
                <a:lnTo>
                  <a:pt x="0" y="77077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62847" y="742813"/>
            <a:ext cx="7962306" cy="657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26"/>
              </a:lnSpc>
              <a:spcBef>
                <a:spcPct val="0"/>
              </a:spcBef>
            </a:pPr>
            <a:r>
              <a:rPr lang="en-US" sz="4877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GRÁFICOS DE FEATURE IMPORTANCE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510409" y="1958648"/>
            <a:ext cx="15267183" cy="6796709"/>
          </a:xfrm>
          <a:custGeom>
            <a:avLst/>
            <a:gdLst/>
            <a:ahLst/>
            <a:cxnLst/>
            <a:rect r="r" b="b" t="t" l="l"/>
            <a:pathLst>
              <a:path h="6796709" w="15267183">
                <a:moveTo>
                  <a:pt x="0" y="0"/>
                </a:moveTo>
                <a:lnTo>
                  <a:pt x="15267182" y="0"/>
                </a:lnTo>
                <a:lnTo>
                  <a:pt x="15267182" y="6796709"/>
                </a:lnTo>
                <a:lnTo>
                  <a:pt x="0" y="67967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33" t="0" r="-647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62847" y="742813"/>
            <a:ext cx="7962306" cy="657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26"/>
              </a:lnSpc>
              <a:spcBef>
                <a:spcPct val="0"/>
              </a:spcBef>
            </a:pPr>
            <a:r>
              <a:rPr lang="en-US" sz="4877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GRÁFICOS DE FEATURE IMPORTANCE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33825" y="4273117"/>
            <a:ext cx="7420351" cy="2016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199"/>
              </a:lnSpc>
              <a:spcBef>
                <a:spcPct val="0"/>
              </a:spcBef>
            </a:pPr>
            <a:r>
              <a:rPr lang="en-US" sz="15048">
                <a:solidFill>
                  <a:srgbClr val="004AAD"/>
                </a:solidFill>
                <a:latin typeface="Anton"/>
                <a:ea typeface="Anton"/>
                <a:cs typeface="Anton"/>
                <a:sym typeface="Anton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DAGM797Y7ks</dc:identifier>
  <dcterms:modified xsi:type="dcterms:W3CDTF">2011-08-01T06:04:30Z</dcterms:modified>
  <cp:revision>1</cp:revision>
  <dc:title>Projeto Final  Aprendizagem de máquina</dc:title>
</cp:coreProperties>
</file>